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  <p:sldMasterId id="2147483660" r:id="rId2"/>
  </p:sldMasterIdLst>
  <p:notesMasterIdLst>
    <p:notesMasterId r:id="rId21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632" y="6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28.04.2026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尊敬的各位评委老师，大家上午好。我是[请填写姓名]，今天我将向大家汇报我的毕业设计项目——校园二手交易平台“校易通”的系统设计与实现。本次答辩将围绕项目背景、需求分析、系统设计、核心实现以及总结展望等几个方面展开。希望通过这次汇报，能让大家对我的项目有一个全面而深入的了解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答辩将分为七个部分。首先，我会介绍项目的背景和意义。接着，详细阐述系统的需求分析。第三部分将展示系统的总体设计，包括架构和功能模块。第四部分会深入讲解几个核心业务流程。第五部分是数据库设计。第六部分介绍系统的具体实现和所使用的技术栈。最后，对项目进行总结并对未来进行展望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来看项目的背景与意义。我们观察到，大学校园里普遍存在大量闲置物品，而传统的线下交易方式效率低下且存在安全隐患。这为我们的项目提供了明确的市场需求。同时，成熟的技术也为我们实现一个功能完善的平台提供了可能。因此，“校易通”项目的意义在于，不仅能为学生提供一个安全便捷的交易渠道，还能促进校园资源的循环利用，对我个人而言，这也是一次宝贵的全栈开发实践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是需求分析部分。我们将系统的核心功能需求归纳为六个方面：用户管理、商品管理、交易流程、互动交流、后台管理以及智能化辅助。这些功能覆盖了用户从注册登录到完成交易的全流程，并通过后台管理和AI辅助提升了平台的运营效率和用户体验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系统角色方面，我们设计了三种角色：游客、普通用户和管理员。游客可以浏览信息和注册登录。普通用户拥有完整的交易和互动权限。而管理员则负责后台的全面管控，包括内容审核和系统维护。这三张用例图清晰地展示了不同角色的具体操作权限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三部分是系统总体设计。我们采用了主流的前后端分离架构，实现了前端与后端的解耦。在架构演进上，我们兼顾了当下与未来，设计了两种模式：单体模式便于课程设计阶段的快速开发与部署，满足敏捷性需求；而微服务模式则通过API Gateway实现统一管理，将核心业务模块化拆分，为系统未来应对高并发和复杂业务场景提供了坚实的扩展基础。底部的架构图直观展示了前端展示层与后端服务层的交互逻辑，以及各层级的核心职责。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在功能模块层面，我们将系统划分为12个核心模块，涵盖了从用户认证、商品管理、交易闭环到互动交流、后台管理的所有关键业务场景。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左侧卡片涵盖了基础的用户认证与商品体系，保障了平台的“人”与“货”。中间卡片展示了完整的交易链路与互动体系，实现了从下单到收货的全流程覆盖，并支持用户间的点赞与评论互动。右侧卡片整合了即时通讯、后台管理、数据统计与AI辅助等功能，确保系统运行稳定、数据透明，并通过技术手段提升用户体验。这些模块紧密配合，共同支撑起整个校园交易平台的高效运转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四部分，我们来看核心业务流程。首先是用户注册登录流程，我们采用JWT和Redis结合的方式管理登录态，既实现了无状态登录，又能有效控制Token的生命周期。其次是商品发布与审核流程，卖家发布商品后，需经过管理员审核才能上架，这保证了平台内容的合规性。这两张流程图清晰地展示了这两个过程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继续看核心流程。订单交易流程实现了从下单到收货的完整闭环，并支持退款功能，保障了买卖双方的权益。在线聊天流程则基于WebSocket技术，为用户提供了流畅的实时沟通体验，这对于促进交易达成至关重要。这两张图分别展示了订单和聊天的详细流转过程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第五部分是数据库设计。我们选择MySQL 8.0作为数据库，共设计了20多张核心表。其中，用户表、角色权限表、商品表、订单表以及聊天相关的表是整个系统的数据基础。这些表的设计遵循了规范化原则，确保了数据的一致性和完整性。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我们数据库设计的ER图，它直观地展示了各个数据表之间的关联关系。例如，用户和商品是一对多的关系，一个用户可以发布多个商品。权限控制则基于经典的RBAC模型，实现了用户、角色、权限的解耦。这些关系的设计保证了数据库结构的合理性和可扩展性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第六部分，我们来看系统的实现和技术栈。前端方面，我们采用了最新的Vue3和Vite作为核心框架，搭配Vue Router和Pinia进行路由和状态管理。UI组件库选用了Element Plus，数据可视化则使用了ECharts。这些技术的组合保证了前端的高性能和良好的开发体验。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后端技术栈方面，我们以Spring Boot 3为核心，结合Spring Cloud全家桶实现了微服务架构。数据访问使用MyBatis-Plus，数据库选用MySQL和Redis。认证授权采用JWT和Spring Security实现RBAC权限控制。实时通信则通过WebSocket完成。这套技术栈成熟稳定，能够支撑系统的各项功能需求。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众多技术中，我想特别强调几个核心亮点。首先是JWT结合Redis的登录态管理方案，兼顾了安全性和性能。其次是基于RBAC的动态权限控制，实现了精细化的权限管理。WebSocket实时聊天和AI能力的集成则是提升用户体验和平台智能化的关键。此外，微服务架构的设计也为系统未来的发展预留了空间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最后是总结与展望部分。首先进行项目总结。本项目成功完成了所有规划的核心功能，技术上实践了多种主流方案，最终实现的系统功能完整、流程清晰，兼具实用性和技术先进性，达到了预期的设计目标。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对于未来，我认为还有很多可以优化和扩展的方向。功能上，可以加入个性化推荐、信用评价体系和真实支付功能。技术上，可以引入Elasticsearch优化搜索，使用Docker和Kubernetes进行容器化部署，并进一步深化AI能力，比如引入向量数据库。这些都将是项目下一步的发展方向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了让大家更直观地了解系统，这里展示几张核心功能的截图。包括首页的商品列表，清晰展示了商品信息；商品详情页，用户可以查看详情并发起聊天；发布商品页，提供了便捷的表单；以及后台管理的商品审核界面。这些界面都体现了系统的实用性和友好的交互设计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我的汇报到此结束。感谢各位评委老师的耐心聆听。接下来是问答环节，欢迎各位老师提问。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5748369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2.jpeg"/><Relationship Id="rId7" Type="http://schemas.openxmlformats.org/officeDocument/2006/relationships/image" Target="../media/image8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svg"/><Relationship Id="rId9" Type="http://schemas.openxmlformats.org/officeDocument/2006/relationships/image" Target="../media/image10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6.svg"/><Relationship Id="rId5" Type="http://schemas.openxmlformats.org/officeDocument/2006/relationships/image" Target="../media/image15.svg"/><Relationship Id="rId4" Type="http://schemas.openxmlformats.org/officeDocument/2006/relationships/image" Target="../media/image14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6.svg"/><Relationship Id="rId5" Type="http://schemas.openxmlformats.org/officeDocument/2006/relationships/image" Target="../media/image25.svg"/><Relationship Id="rId4" Type="http://schemas.openxmlformats.org/officeDocument/2006/relationships/image" Target="../media/image24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svg"/><Relationship Id="rId3" Type="http://schemas.openxmlformats.org/officeDocument/2006/relationships/image" Target="../media/image2.jpeg"/><Relationship Id="rId7" Type="http://schemas.openxmlformats.org/officeDocument/2006/relationships/image" Target="../media/image30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9.svg"/><Relationship Id="rId5" Type="http://schemas.openxmlformats.org/officeDocument/2006/relationships/image" Target="../media/image28.svg"/><Relationship Id="rId4" Type="http://schemas.openxmlformats.org/officeDocument/2006/relationships/image" Target="../media/image27.svg"/><Relationship Id="rId9" Type="http://schemas.openxmlformats.org/officeDocument/2006/relationships/image" Target="../media/image32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svg"/><Relationship Id="rId3" Type="http://schemas.openxmlformats.org/officeDocument/2006/relationships/image" Target="../media/image2.jpeg"/><Relationship Id="rId7" Type="http://schemas.openxmlformats.org/officeDocument/2006/relationships/image" Target="../media/image36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5.jpeg"/><Relationship Id="rId5" Type="http://schemas.openxmlformats.org/officeDocument/2006/relationships/image" Target="../media/image34.jpeg"/><Relationship Id="rId10" Type="http://schemas.openxmlformats.org/officeDocument/2006/relationships/image" Target="../media/image39.svg"/><Relationship Id="rId4" Type="http://schemas.openxmlformats.org/officeDocument/2006/relationships/image" Target="../media/image33.jpeg"/><Relationship Id="rId9" Type="http://schemas.openxmlformats.org/officeDocument/2006/relationships/image" Target="../media/image38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43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2.jpeg"/><Relationship Id="rId5" Type="http://schemas.openxmlformats.org/officeDocument/2006/relationships/image" Target="../media/image41.jpeg"/><Relationship Id="rId4" Type="http://schemas.openxmlformats.org/officeDocument/2006/relationships/image" Target="../media/image40.jpe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2.jpeg"/><Relationship Id="rId7" Type="http://schemas.openxmlformats.org/officeDocument/2006/relationships/image" Target="../media/image31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5.svg"/><Relationship Id="rId5" Type="http://schemas.openxmlformats.org/officeDocument/2006/relationships/image" Target="../media/image30.svg"/><Relationship Id="rId10" Type="http://schemas.openxmlformats.org/officeDocument/2006/relationships/image" Target="../media/image46.svg"/><Relationship Id="rId4" Type="http://schemas.openxmlformats.org/officeDocument/2006/relationships/image" Target="../media/image44.jpeg"/><Relationship Id="rId9" Type="http://schemas.openxmlformats.org/officeDocument/2006/relationships/image" Target="../media/image16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8.svg"/><Relationship Id="rId5" Type="http://schemas.openxmlformats.org/officeDocument/2006/relationships/image" Target="../media/image16.svg"/><Relationship Id="rId4" Type="http://schemas.openxmlformats.org/officeDocument/2006/relationships/image" Target="../media/image47.sv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svg"/><Relationship Id="rId3" Type="http://schemas.openxmlformats.org/officeDocument/2006/relationships/image" Target="../media/image2.jpeg"/><Relationship Id="rId7" Type="http://schemas.openxmlformats.org/officeDocument/2006/relationships/image" Target="../media/image52.sv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1.svg"/><Relationship Id="rId11" Type="http://schemas.openxmlformats.org/officeDocument/2006/relationships/image" Target="../media/image56.svg"/><Relationship Id="rId5" Type="http://schemas.openxmlformats.org/officeDocument/2006/relationships/image" Target="../media/image50.svg"/><Relationship Id="rId10" Type="http://schemas.openxmlformats.org/officeDocument/2006/relationships/image" Target="../media/image55.jpeg"/><Relationship Id="rId4" Type="http://schemas.openxmlformats.org/officeDocument/2006/relationships/image" Target="../media/image49.jpeg"/><Relationship Id="rId9" Type="http://schemas.openxmlformats.org/officeDocument/2006/relationships/image" Target="../media/image54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53.sv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9.svg"/><Relationship Id="rId5" Type="http://schemas.openxmlformats.org/officeDocument/2006/relationships/image" Target="../media/image58.svg"/><Relationship Id="rId4" Type="http://schemas.openxmlformats.org/officeDocument/2006/relationships/image" Target="../media/image57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1016000" y="2032000"/>
            <a:ext cx="1016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校园二手交易平台（校易通）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16000" y="3302000"/>
            <a:ext cx="10160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64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系统设计与实现答辩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4953000"/>
            <a:ext cx="8890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2200" b="0" i="0" u="none" strike="noStrike">
                <a:solidFill>
                  <a:srgbClr val="FFFFFF">
                    <a:alpha val="9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答辩人：付仕宇   |   指导老师：李丽萍</a:t>
            </a:r>
            <a:endParaRPr lang="en-US" sz="1100"/>
          </a:p>
          <a:p>
            <a:pPr indent="0" algn="l">
              <a:lnSpc>
                <a:spcPct val="133333"/>
              </a:lnSpc>
            </a:pPr>
            <a:r>
              <a:rPr lang="en-US" sz="1800" b="0" i="0" u="none" strike="noStrike">
                <a:solidFill>
                  <a:srgbClr val="FFFFFF">
                    <a:alpha val="7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2026年3月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目录</a:t>
            </a:r>
            <a:r>
              <a:rPr lang="en-US" sz="2400" b="0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CONTENTS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2476500" cy="1905000"/>
          </a:xfrm>
          <a:prstGeom prst="roundRect">
            <a:avLst>
              <a:gd name="adj" fmla="val 8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952500" y="1841500"/>
            <a:ext cx="76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2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778000" y="1841500"/>
            <a:ext cx="13335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项目概述与背景</a:t>
            </a:r>
            <a:endParaRPr lang="en-US" sz="1100"/>
          </a:p>
          <a:p>
            <a:pPr indent="0" algn="l">
              <a:lnSpc>
                <a:spcPct val="108333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项目定位与意义</a:t>
            </a:r>
          </a:p>
        </p:txBody>
      </p:sp>
      <p:sp>
        <p:nvSpPr>
          <p:cNvPr id="7" name="AutoShape 7"/>
          <p:cNvSpPr/>
          <p:nvPr/>
        </p:nvSpPr>
        <p:spPr>
          <a:xfrm>
            <a:off x="3492500" y="1651000"/>
            <a:ext cx="2476500" cy="1905000"/>
          </a:xfrm>
          <a:prstGeom prst="roundRect">
            <a:avLst>
              <a:gd name="adj" fmla="val 8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3683000" y="1841500"/>
            <a:ext cx="76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2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508500" y="1841500"/>
            <a:ext cx="13335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需求分析</a:t>
            </a:r>
            <a:endParaRPr lang="en-US" sz="1100"/>
          </a:p>
          <a:p>
            <a:pPr indent="0" algn="l">
              <a:lnSpc>
                <a:spcPct val="108333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核心功能需求与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系统角色分析</a:t>
            </a:r>
          </a:p>
        </p:txBody>
      </p:sp>
      <p:sp>
        <p:nvSpPr>
          <p:cNvPr id="10" name="AutoShape 10"/>
          <p:cNvSpPr/>
          <p:nvPr/>
        </p:nvSpPr>
        <p:spPr>
          <a:xfrm>
            <a:off x="6223000" y="1651000"/>
            <a:ext cx="2476500" cy="1905000"/>
          </a:xfrm>
          <a:prstGeom prst="roundRect">
            <a:avLst>
              <a:gd name="adj" fmla="val 8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6413500" y="1841500"/>
            <a:ext cx="76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2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7239000" y="1841500"/>
            <a:ext cx="13335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系统总体设计</a:t>
            </a:r>
            <a:endParaRPr lang="en-US" sz="1100"/>
          </a:p>
          <a:p>
            <a:pPr indent="0" algn="l">
              <a:lnSpc>
                <a:spcPct val="108333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总体架构与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功能模块划分</a:t>
            </a:r>
          </a:p>
        </p:txBody>
      </p:sp>
      <p:sp>
        <p:nvSpPr>
          <p:cNvPr id="13" name="AutoShape 13"/>
          <p:cNvSpPr/>
          <p:nvPr/>
        </p:nvSpPr>
        <p:spPr>
          <a:xfrm>
            <a:off x="8953500" y="1651000"/>
            <a:ext cx="2476500" cy="1905000"/>
          </a:xfrm>
          <a:prstGeom prst="roundRect">
            <a:avLst>
              <a:gd name="adj" fmla="val 8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9144000" y="1841500"/>
            <a:ext cx="76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2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9969500" y="1841500"/>
            <a:ext cx="13335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核心业务流程</a:t>
            </a:r>
            <a:endParaRPr lang="en-US" sz="1100"/>
          </a:p>
          <a:p>
            <a:pPr indent="0" algn="l">
              <a:lnSpc>
                <a:spcPct val="108333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注册登录、商品审核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订单交易、在线聊天</a:t>
            </a:r>
          </a:p>
        </p:txBody>
      </p:sp>
      <p:sp>
        <p:nvSpPr>
          <p:cNvPr id="16" name="AutoShape 16"/>
          <p:cNvSpPr/>
          <p:nvPr/>
        </p:nvSpPr>
        <p:spPr>
          <a:xfrm>
            <a:off x="762000" y="4064000"/>
            <a:ext cx="3302000" cy="1905000"/>
          </a:xfrm>
          <a:prstGeom prst="roundRect">
            <a:avLst>
              <a:gd name="adj" fmla="val 8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952500" y="4318000"/>
            <a:ext cx="88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2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05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1968500" y="4318000"/>
            <a:ext cx="1905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数据库设计</a:t>
            </a:r>
            <a:endParaRPr lang="en-US" sz="1100"/>
          </a:p>
          <a:p>
            <a:pPr indent="0" algn="l">
              <a:lnSpc>
                <a:spcPct val="108333"/>
              </a:lnSpc>
              <a:spcBef>
                <a:spcPts val="1000"/>
              </a:spcBef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数据库选型与核心表结构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设计思路</a:t>
            </a:r>
          </a:p>
        </p:txBody>
      </p:sp>
      <p:sp>
        <p:nvSpPr>
          <p:cNvPr id="19" name="AutoShape 19"/>
          <p:cNvSpPr/>
          <p:nvPr/>
        </p:nvSpPr>
        <p:spPr>
          <a:xfrm>
            <a:off x="4445000" y="4064000"/>
            <a:ext cx="3302000" cy="1905000"/>
          </a:xfrm>
          <a:prstGeom prst="roundRect">
            <a:avLst>
              <a:gd name="adj" fmla="val 8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4635500" y="4318000"/>
            <a:ext cx="88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2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06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5651500" y="4318000"/>
            <a:ext cx="1905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系统实现与技术栈</a:t>
            </a:r>
            <a:endParaRPr lang="en-US" sz="1100"/>
          </a:p>
          <a:p>
            <a:pPr indent="0" algn="l">
              <a:lnSpc>
                <a:spcPct val="108333"/>
              </a:lnSpc>
              <a:spcBef>
                <a:spcPts val="1000"/>
              </a:spcBef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前后端技术栈介绍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核心技术亮点展示</a:t>
            </a:r>
          </a:p>
        </p:txBody>
      </p:sp>
      <p:sp>
        <p:nvSpPr>
          <p:cNvPr id="22" name="AutoShape 22"/>
          <p:cNvSpPr/>
          <p:nvPr/>
        </p:nvSpPr>
        <p:spPr>
          <a:xfrm>
            <a:off x="8128000" y="4064000"/>
            <a:ext cx="3302000" cy="1905000"/>
          </a:xfrm>
          <a:prstGeom prst="roundRect">
            <a:avLst>
              <a:gd name="adj" fmla="val 8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AutoShape 23"/>
          <p:cNvSpPr/>
          <p:nvPr/>
        </p:nvSpPr>
        <p:spPr>
          <a:xfrm>
            <a:off x="8318500" y="4318000"/>
            <a:ext cx="88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2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07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9334500" y="4318000"/>
            <a:ext cx="1905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总结与展望</a:t>
            </a:r>
            <a:endParaRPr lang="en-US" sz="1100"/>
          </a:p>
          <a:p>
            <a:pPr indent="0" algn="l">
              <a:lnSpc>
                <a:spcPct val="108333"/>
              </a:lnSpc>
              <a:spcBef>
                <a:spcPts val="1000"/>
              </a:spcBef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项目成果总结回顾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未来优化与改进方向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01 项目概述与背景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5207000" cy="4826000"/>
          </a:xfrm>
          <a:prstGeom prst="roundRect">
            <a:avLst>
              <a:gd name="adj" fmla="val 3157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rcRect t="39638" b="39638"/>
          <a:stretch>
            <a:fillRect/>
          </a:stretch>
        </p:blipFill>
        <p:spPr>
          <a:xfrm>
            <a:off x="952500" y="1714500"/>
            <a:ext cx="4826000" cy="1778000"/>
          </a:xfrm>
          <a:prstGeom prst="roundRect">
            <a:avLst>
              <a:gd name="adj" fmla="val 5714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AutoShape 6"/>
          <p:cNvSpPr/>
          <p:nvPr/>
        </p:nvSpPr>
        <p:spPr>
          <a:xfrm>
            <a:off x="952500" y="36830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▍ 项目背景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952500" y="4318000"/>
            <a:ext cx="4826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spcBef>
                <a:spcPts val="600"/>
              </a:spcBef>
              <a:defRPr/>
            </a:pPr>
            <a:r>
              <a:rPr lang="en-US" sz="13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● 校园痛点：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大学校园存在大量闲置物品（教材、电子产品、生活用品），传统交易方式信息不对称、效率低、且缺乏安全保障。</a:t>
            </a:r>
            <a:endParaRPr lang="en-US" sz="1100"/>
          </a:p>
          <a:p>
            <a:pPr indent="0" algn="l">
              <a:lnSpc>
                <a:spcPct val="108333"/>
              </a:lnSpc>
              <a:spcBef>
                <a:spcPts val="600"/>
              </a:spcBef>
            </a:pPr>
            <a:r>
              <a:rPr lang="en-US" sz="13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● 市场需求：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学生群体急需一个专属、便捷、可信任的二手交易平台，打破校内交易壁垒，建立可靠的信任关系。</a:t>
            </a:r>
          </a:p>
          <a:p>
            <a:pPr indent="0" algn="l">
              <a:lnSpc>
                <a:spcPct val="108333"/>
              </a:lnSpc>
              <a:spcBef>
                <a:spcPts val="600"/>
              </a:spcBef>
            </a:pPr>
            <a:r>
              <a:rPr lang="en-US" sz="13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● 技术驱动：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前后端分离架构、微服务及AI等技术的成熟应用，为构建高性能、体验流畅的现代化Web应用提供了坚实基础。</a:t>
            </a:r>
          </a:p>
        </p:txBody>
      </p:sp>
      <p:sp>
        <p:nvSpPr>
          <p:cNvPr id="8" name="AutoShape 8"/>
          <p:cNvSpPr/>
          <p:nvPr/>
        </p:nvSpPr>
        <p:spPr>
          <a:xfrm>
            <a:off x="6223000" y="1524000"/>
            <a:ext cx="5207000" cy="4826000"/>
          </a:xfrm>
          <a:prstGeom prst="roundRect">
            <a:avLst>
              <a:gd name="adj" fmla="val 3157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5"/>
          <a:srcRect t="18551" b="18551"/>
          <a:stretch>
            <a:fillRect/>
          </a:stretch>
        </p:blipFill>
        <p:spPr>
          <a:xfrm>
            <a:off x="6413500" y="1714500"/>
            <a:ext cx="4826000" cy="1778000"/>
          </a:xfrm>
          <a:prstGeom prst="roundRect">
            <a:avLst>
              <a:gd name="adj" fmla="val 5714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0" name="AutoShape 10"/>
          <p:cNvSpPr/>
          <p:nvPr/>
        </p:nvSpPr>
        <p:spPr>
          <a:xfrm>
            <a:off x="6413500" y="36830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▍ 项目意义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413500" y="4318000"/>
            <a:ext cx="4826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spcBef>
                <a:spcPts val="600"/>
              </a:spcBef>
              <a:defRPr/>
            </a:pPr>
            <a:r>
              <a:rPr lang="en-US" sz="13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● 对学生：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提供一个安全、透明的闲置物品交易渠道，在降低生活开支的同时，潜移默化地培养学生的环保与资源循环意识。</a:t>
            </a:r>
            <a:endParaRPr lang="en-US" sz="1100"/>
          </a:p>
          <a:p>
            <a:pPr indent="0" algn="l">
              <a:lnSpc>
                <a:spcPct val="108333"/>
              </a:lnSpc>
              <a:spcBef>
                <a:spcPts val="600"/>
              </a:spcBef>
            </a:pPr>
            <a:r>
              <a:rPr lang="en-US" sz="13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● 对校园：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盘活校内“沉睡”资源，促进物品流转与循环利用，助力打造低碳、绿色、可持续发展的校园生态与文化。</a:t>
            </a:r>
          </a:p>
          <a:p>
            <a:pPr indent="0" algn="l">
              <a:lnSpc>
                <a:spcPct val="108333"/>
              </a:lnSpc>
              <a:spcBef>
                <a:spcPts val="600"/>
              </a:spcBef>
            </a:pPr>
            <a:r>
              <a:rPr lang="en-US" sz="13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● 对开发者：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这是一次典型的全栈开发实战，完整覆盖了需求分析、架构设计、编码实现到最终部署运维的全过程能力考察。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02 需求分析：核心功能需求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3302000" cy="2286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1968500"/>
            <a:ext cx="457200" cy="4572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651000" y="1930400"/>
            <a:ext cx="215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900" b="1" i="0" u="none" strike="noStrike">
                <a:solidFill>
                  <a:srgbClr val="166534"/>
                </a:solidFill>
                <a:latin typeface="Noto Sans SC"/>
                <a:ea typeface="Noto Sans SC"/>
                <a:cs typeface="Noto Sans SC"/>
                <a:sym typeface="Noto Sans SC"/>
              </a:rPr>
              <a:t>用户管理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2730500"/>
            <a:ext cx="2794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支持用户的注册、登录、个人信息维护及身份认证，保障交易主体的真实性与安全性。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4445000" y="1651000"/>
            <a:ext cx="3302000" cy="2286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99000" y="1968500"/>
            <a:ext cx="457200" cy="4572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5334000" y="1930400"/>
            <a:ext cx="215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900" b="1" i="0" u="none" strike="noStrike">
                <a:solidFill>
                  <a:srgbClr val="166534"/>
                </a:solidFill>
                <a:latin typeface="Noto Sans SC"/>
                <a:ea typeface="Noto Sans SC"/>
                <a:cs typeface="Noto Sans SC"/>
                <a:sym typeface="Noto Sans SC"/>
              </a:rPr>
              <a:t>商品管理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699000" y="2730500"/>
            <a:ext cx="2794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提供商品发布、编辑、上下架功能，支持多维度搜索与分类浏览，方便快速匹配供需信息。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8128000" y="1651000"/>
            <a:ext cx="3302000" cy="2286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82000" y="1968500"/>
            <a:ext cx="457200" cy="4572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9017000" y="1930400"/>
            <a:ext cx="215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900" b="1" i="0" u="none" strike="noStrike">
                <a:solidFill>
                  <a:srgbClr val="166534"/>
                </a:solidFill>
                <a:latin typeface="Noto Sans SC"/>
                <a:ea typeface="Noto Sans SC"/>
                <a:cs typeface="Noto Sans SC"/>
                <a:sym typeface="Noto Sans SC"/>
              </a:rPr>
              <a:t>交易流程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382000" y="2730500"/>
            <a:ext cx="2794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实现从下单、支付、发货到确认收货的全链路闭环，并支持完善的退款与售后保障流程。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62000" y="4191000"/>
            <a:ext cx="3302000" cy="2286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6000" y="4508500"/>
            <a:ext cx="457200" cy="4572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1651000" y="4470400"/>
            <a:ext cx="215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900" b="1" i="0" u="none" strike="noStrike">
                <a:solidFill>
                  <a:srgbClr val="166534"/>
                </a:solidFill>
                <a:latin typeface="Noto Sans SC"/>
                <a:ea typeface="Noto Sans SC"/>
                <a:cs typeface="Noto Sans SC"/>
                <a:sym typeface="Noto Sans SC"/>
              </a:rPr>
              <a:t>互动交流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1016000" y="5270500"/>
            <a:ext cx="2794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提供点赞、收藏与评论功能，搭建买卖双方实时在线聊天的沟通桥梁，促进交易快速达成。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4445000" y="4191000"/>
            <a:ext cx="3302000" cy="2286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99000" y="4508500"/>
            <a:ext cx="457200" cy="4572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5334000" y="4470400"/>
            <a:ext cx="215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900" b="1" i="0" u="none" strike="noStrike">
                <a:solidFill>
                  <a:srgbClr val="166534"/>
                </a:solidFill>
                <a:latin typeface="Noto Sans SC"/>
                <a:ea typeface="Noto Sans SC"/>
                <a:cs typeface="Noto Sans SC"/>
                <a:sym typeface="Noto Sans SC"/>
              </a:rPr>
              <a:t>后台管理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4699000" y="5270500"/>
            <a:ext cx="2794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构建完整的后台管理体系，支持管理员对平台内用户、商品、交易订单及评论内容进行审核与管理。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8128000" y="4191000"/>
            <a:ext cx="3302000" cy="2286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382000" y="4508500"/>
            <a:ext cx="457200" cy="457200"/>
          </a:xfrm>
          <a:prstGeom prst="rect">
            <a:avLst/>
          </a:prstGeom>
        </p:spPr>
      </p:pic>
      <p:sp>
        <p:nvSpPr>
          <p:cNvPr id="26" name="AutoShape 26"/>
          <p:cNvSpPr/>
          <p:nvPr/>
        </p:nvSpPr>
        <p:spPr>
          <a:xfrm>
            <a:off x="9017000" y="4470400"/>
            <a:ext cx="215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900" b="1" i="0" u="none" strike="noStrike">
                <a:solidFill>
                  <a:srgbClr val="166534"/>
                </a:solidFill>
                <a:latin typeface="Noto Sans SC"/>
                <a:ea typeface="Noto Sans SC"/>
                <a:cs typeface="Noto Sans SC"/>
                <a:sym typeface="Noto Sans SC"/>
              </a:rPr>
              <a:t>智能化辅助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8382000" y="5270500"/>
            <a:ext cx="2794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引入AI技术赋能平台，支持辅助生成商品描述文案，并提供校园生活相关的知识问答等增值服务。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02 需求分析：系统角色与用例分析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3302000" cy="4699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rcRect t="25025" b="25025"/>
          <a:stretch>
            <a:fillRect/>
          </a:stretch>
        </p:blipFill>
        <p:spPr>
          <a:xfrm>
            <a:off x="952500" y="1905000"/>
            <a:ext cx="2921000" cy="1778000"/>
          </a:xfrm>
          <a:prstGeom prst="roundRect">
            <a:avLst>
              <a:gd name="adj" fmla="val 5714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AutoShape 6"/>
          <p:cNvSpPr/>
          <p:nvPr/>
        </p:nvSpPr>
        <p:spPr>
          <a:xfrm>
            <a:off x="952500" y="3873500"/>
            <a:ext cx="292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游客 (未登录用户)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952500" y="4572000"/>
            <a:ext cx="2921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3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核心权限：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信息浏览与基础操作，不涉及敏感数据交互。</a:t>
            </a:r>
            <a:endParaRPr lang="en-US" sz="1100"/>
          </a:p>
          <a:p>
            <a:pPr indent="0" algn="l">
              <a:lnSpc>
                <a:spcPct val="108333"/>
              </a:lnSpc>
              <a:spcBef>
                <a:spcPts val="800"/>
              </a:spcBef>
            </a:pPr>
            <a:r>
              <a:rPr lang="en-US" sz="13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用例场景：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浏览商品列表、关键词搜索商品、查看详情页、用户注册、账号登录。</a:t>
            </a:r>
          </a:p>
        </p:txBody>
      </p:sp>
      <p:sp>
        <p:nvSpPr>
          <p:cNvPr id="8" name="AutoShape 8"/>
          <p:cNvSpPr/>
          <p:nvPr/>
        </p:nvSpPr>
        <p:spPr>
          <a:xfrm>
            <a:off x="4445000" y="1651000"/>
            <a:ext cx="3302000" cy="4699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5"/>
          <a:srcRect t="32653" b="32653"/>
          <a:stretch>
            <a:fillRect/>
          </a:stretch>
        </p:blipFill>
        <p:spPr>
          <a:xfrm>
            <a:off x="4635500" y="1905000"/>
            <a:ext cx="2921000" cy="1778000"/>
          </a:xfrm>
          <a:prstGeom prst="roundRect">
            <a:avLst>
              <a:gd name="adj" fmla="val 5714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0" name="AutoShape 10"/>
          <p:cNvSpPr/>
          <p:nvPr/>
        </p:nvSpPr>
        <p:spPr>
          <a:xfrm>
            <a:off x="4635500" y="3873500"/>
            <a:ext cx="292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普通用户 (已登录学生)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635500" y="4572000"/>
            <a:ext cx="2921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3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核心权限：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享有平台完整的交易、发布与社交互动权限。</a:t>
            </a:r>
            <a:endParaRPr lang="en-US" sz="1100"/>
          </a:p>
          <a:p>
            <a:pPr indent="0" algn="l">
              <a:lnSpc>
                <a:spcPct val="108333"/>
              </a:lnSpc>
              <a:spcBef>
                <a:spcPts val="800"/>
              </a:spcBef>
            </a:pPr>
            <a:r>
              <a:rPr lang="en-US" sz="13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用例场景：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发布/管理个人闲置、下单/支付、与其他用户在线聊天、使用智能AI助手等。</a:t>
            </a:r>
          </a:p>
        </p:txBody>
      </p:sp>
      <p:sp>
        <p:nvSpPr>
          <p:cNvPr id="12" name="AutoShape 12"/>
          <p:cNvSpPr/>
          <p:nvPr/>
        </p:nvSpPr>
        <p:spPr>
          <a:xfrm>
            <a:off x="8128000" y="1651000"/>
            <a:ext cx="3302000" cy="4699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6"/>
          <a:srcRect t="27854" b="27854"/>
          <a:stretch>
            <a:fillRect/>
          </a:stretch>
        </p:blipFill>
        <p:spPr>
          <a:xfrm>
            <a:off x="8318500" y="1905000"/>
            <a:ext cx="2921000" cy="1778000"/>
          </a:xfrm>
          <a:prstGeom prst="roundRect">
            <a:avLst>
              <a:gd name="adj" fmla="val 5714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4" name="AutoShape 14"/>
          <p:cNvSpPr/>
          <p:nvPr/>
        </p:nvSpPr>
        <p:spPr>
          <a:xfrm>
            <a:off x="8318500" y="3873500"/>
            <a:ext cx="292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管理员 (Admin)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318500" y="4572000"/>
            <a:ext cx="2921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3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核心权限：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对系统后台进行全流程管控与安全维护。</a:t>
            </a:r>
            <a:endParaRPr lang="en-US" sz="1100"/>
          </a:p>
          <a:p>
            <a:pPr indent="0" algn="l">
              <a:lnSpc>
                <a:spcPct val="108333"/>
              </a:lnSpc>
              <a:spcBef>
                <a:spcPts val="800"/>
              </a:spcBef>
            </a:pPr>
            <a:r>
              <a:rPr lang="en-US" sz="13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用例场景：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用户身份审核、违规商品下架、交易纠纷仲裁、查看平台运营数据与统计报表等。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03 系统总体设计：总体架构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10668000" cy="1079500"/>
          </a:xfrm>
          <a:prstGeom prst="roundRect">
            <a:avLst>
              <a:gd name="adj" fmla="val 14117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66800" y="1651000"/>
            <a:ext cx="508000" cy="5080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905000" y="1524000"/>
            <a:ext cx="9271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 dirty="0" err="1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前后端分离架构模式</a:t>
            </a:r>
            <a:endParaRPr lang="en-US" sz="1100" dirty="0"/>
          </a:p>
          <a:p>
            <a:pPr indent="0" algn="l">
              <a:lnSpc>
                <a:spcPct val="108333"/>
              </a:lnSpc>
            </a:pPr>
            <a:r>
              <a:rPr lang="en-US" sz="13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采用主流的前后端分离架构，将前端页面渲染与后端业务逻辑处理彻底解耦，降低系统耦合度，提升开发效率与维护性</a:t>
            </a:r>
            <a:r>
              <a:rPr lang="en-US" sz="13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</p:txBody>
      </p:sp>
      <p:sp>
        <p:nvSpPr>
          <p:cNvPr id="7" name="AutoShape 7"/>
          <p:cNvSpPr/>
          <p:nvPr/>
        </p:nvSpPr>
        <p:spPr>
          <a:xfrm>
            <a:off x="762000" y="2730500"/>
            <a:ext cx="5207000" cy="1714500"/>
          </a:xfrm>
          <a:prstGeom prst="roundRect">
            <a:avLst>
              <a:gd name="adj" fmla="val 8888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2984500"/>
            <a:ext cx="457200" cy="4572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651000" y="2921000"/>
            <a:ext cx="4064000" cy="1333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1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单体模式</a:t>
            </a:r>
            <a:r>
              <a:rPr lang="en-US" sz="1600" b="1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 · </a:t>
            </a:r>
            <a:r>
              <a:rPr lang="en-US" sz="1600" b="1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敏捷开发与部署</a:t>
            </a:r>
            <a:endParaRPr lang="en-US" sz="1100" dirty="0"/>
          </a:p>
          <a:p>
            <a:pPr indent="0" algn="l">
              <a:lnSpc>
                <a:spcPct val="116666"/>
              </a:lnSpc>
              <a:spcBef>
                <a:spcPts val="600"/>
              </a:spcBef>
            </a:pPr>
            <a:r>
              <a:rPr lang="en-US" sz="1200" b="0" i="0" u="none" strike="noStrike" dirty="0" err="1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适用于课程设计与初期版本，将所有核心业务逻辑聚合在单一后端服务中，实现业务快速落地与部署，降低运维成本</a:t>
            </a:r>
            <a:r>
              <a:rPr lang="en-US" sz="1200" b="0" i="0" u="none" strike="noStrike" dirty="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</p:txBody>
      </p:sp>
      <p:sp>
        <p:nvSpPr>
          <p:cNvPr id="10" name="AutoShape 10"/>
          <p:cNvSpPr/>
          <p:nvPr/>
        </p:nvSpPr>
        <p:spPr>
          <a:xfrm>
            <a:off x="6223000" y="2730500"/>
            <a:ext cx="5207000" cy="1714500"/>
          </a:xfrm>
          <a:prstGeom prst="roundRect">
            <a:avLst>
              <a:gd name="adj" fmla="val 8888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77000" y="2984500"/>
            <a:ext cx="457200" cy="4572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7112000" y="2921000"/>
            <a:ext cx="4064000" cy="1333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微服务模式 · 高扩展与解耦</a:t>
            </a:r>
            <a:endParaRPr lang="en-US" sz="1100"/>
          </a:p>
          <a:p>
            <a:pPr indent="0" algn="l">
              <a:lnSpc>
                <a:spcPct val="116666"/>
              </a:lnSpc>
              <a:spcBef>
                <a:spcPts val="600"/>
              </a:spcBef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通过</a:t>
            </a:r>
            <a:r>
              <a:rPr lang="en-US" sz="1200" b="1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API Gateway</a:t>
            </a: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实现统一路由与鉴权，将商品、订单等核心模块拆分为独立微服务，AI与文件服务由单体层统一支撑，兼顾性能与扩展性。</a:t>
            </a:r>
          </a:p>
        </p:txBody>
      </p:sp>
      <p:sp>
        <p:nvSpPr>
          <p:cNvPr id="13" name="AutoShape 13"/>
          <p:cNvSpPr/>
          <p:nvPr/>
        </p:nvSpPr>
        <p:spPr>
          <a:xfrm>
            <a:off x="762000" y="4699000"/>
            <a:ext cx="10668000" cy="1016000"/>
          </a:xfrm>
          <a:prstGeom prst="roundRect">
            <a:avLst>
              <a:gd name="adj" fmla="val 15000"/>
            </a:avLst>
          </a:prstGeom>
          <a:solidFill>
            <a:srgbClr val="F0FDF4">
              <a:alpha val="100000"/>
            </a:srgbClr>
          </a:solidFill>
          <a:ln w="12700" cap="flat" cmpd="sng">
            <a:solidFill>
              <a:srgbClr val="BBF7D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1016000" y="4851400"/>
            <a:ext cx="4953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🖥️ 前端展示层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负责页面渲染、路由跳转、用户交互与状态管理，提供良好的用户体验。</a:t>
            </a:r>
          </a:p>
        </p:txBody>
      </p:sp>
      <p:sp>
        <p:nvSpPr>
          <p:cNvPr id="15" name="AutoShape 15"/>
          <p:cNvSpPr/>
          <p:nvPr/>
        </p:nvSpPr>
        <p:spPr>
          <a:xfrm>
            <a:off x="6223000" y="4851400"/>
            <a:ext cx="4953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⚙️ 后端服务层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负责核心业务逻辑处理、数据持久化存储、安全认证与鉴权，保障系统稳定运行。</a:t>
            </a: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7"/>
          <a:srcRect t="27439" b="27439"/>
          <a:stretch>
            <a:fillRect/>
          </a:stretch>
        </p:blipFill>
        <p:spPr>
          <a:xfrm>
            <a:off x="762000" y="5842000"/>
            <a:ext cx="10668000" cy="889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03 系统总体设计：功能模块划分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2065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系统围绕核心交易场景，划分为12个功能模块，覆盖了从用户认证到交易完成的全流程。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905000"/>
            <a:ext cx="3302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762000" y="1905000"/>
            <a:ext cx="33020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914400" y="2082800"/>
            <a:ext cx="29972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用户与认证模块</a:t>
            </a:r>
            <a:endParaRPr lang="en-US" sz="1100"/>
          </a:p>
          <a:p>
            <a:pPr indent="0" algn="l">
              <a:lnSpc>
                <a:spcPct val="108333"/>
              </a:lnSpc>
              <a:spcBef>
                <a:spcPts val="400"/>
              </a:spcBef>
            </a:pPr>
            <a:r>
              <a:rPr lang="en-US" sz="11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注册、登录、个人信息维护，基于JWT+Redis实现登录态管理</a:t>
            </a:r>
          </a:p>
        </p:txBody>
      </p:sp>
      <p:sp>
        <p:nvSpPr>
          <p:cNvPr id="8" name="AutoShape 8"/>
          <p:cNvSpPr/>
          <p:nvPr/>
        </p:nvSpPr>
        <p:spPr>
          <a:xfrm>
            <a:off x="762000" y="3302000"/>
            <a:ext cx="3302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762000" y="3302000"/>
            <a:ext cx="33020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914400" y="3479800"/>
            <a:ext cx="29972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商品管理模块</a:t>
            </a:r>
            <a:endParaRPr lang="en-US" sz="1100"/>
          </a:p>
          <a:p>
            <a:pPr indent="0" algn="l">
              <a:lnSpc>
                <a:spcPct val="108333"/>
              </a:lnSpc>
              <a:spcBef>
                <a:spcPts val="400"/>
              </a:spcBef>
            </a:pPr>
            <a:r>
              <a:rPr lang="en-US" sz="11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商品发布、编辑、上下架、详情查看、我的商品管理</a:t>
            </a:r>
          </a:p>
        </p:txBody>
      </p:sp>
      <p:sp>
        <p:nvSpPr>
          <p:cNvPr id="11" name="AutoShape 11"/>
          <p:cNvSpPr/>
          <p:nvPr/>
        </p:nvSpPr>
        <p:spPr>
          <a:xfrm>
            <a:off x="762000" y="4699000"/>
            <a:ext cx="3302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762000" y="4699000"/>
            <a:ext cx="33020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914400" y="4876800"/>
            <a:ext cx="29972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商品分类模块</a:t>
            </a:r>
            <a:endParaRPr lang="en-US" sz="1100"/>
          </a:p>
          <a:p>
            <a:pPr indent="0" algn="l">
              <a:lnSpc>
                <a:spcPct val="108333"/>
              </a:lnSpc>
              <a:spcBef>
                <a:spcPts val="400"/>
              </a:spcBef>
            </a:pPr>
            <a:r>
              <a:rPr lang="en-US" sz="11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商品分类新增、修改、删除、列表查询，支持多级分类</a:t>
            </a:r>
          </a:p>
        </p:txBody>
      </p:sp>
      <p:sp>
        <p:nvSpPr>
          <p:cNvPr id="14" name="AutoShape 14"/>
          <p:cNvSpPr/>
          <p:nvPr/>
        </p:nvSpPr>
        <p:spPr>
          <a:xfrm>
            <a:off x="4445000" y="1905000"/>
            <a:ext cx="3302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4445000" y="1905000"/>
            <a:ext cx="33020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4597400" y="2082800"/>
            <a:ext cx="29972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订单交易模块</a:t>
            </a:r>
            <a:endParaRPr lang="en-US" sz="1100"/>
          </a:p>
          <a:p>
            <a:pPr indent="0" algn="l">
              <a:lnSpc>
                <a:spcPct val="108333"/>
              </a:lnSpc>
              <a:spcBef>
                <a:spcPts val="400"/>
              </a:spcBef>
            </a:pPr>
            <a:r>
              <a:rPr lang="en-US" sz="11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创建订单、支付确认、取消订单、发货、收货、退款申请全流程</a:t>
            </a:r>
          </a:p>
        </p:txBody>
      </p:sp>
      <p:sp>
        <p:nvSpPr>
          <p:cNvPr id="17" name="AutoShape 17"/>
          <p:cNvSpPr/>
          <p:nvPr/>
        </p:nvSpPr>
        <p:spPr>
          <a:xfrm>
            <a:off x="4445000" y="3302000"/>
            <a:ext cx="3302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4445000" y="3302000"/>
            <a:ext cx="33020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19"/>
          <p:cNvSpPr/>
          <p:nvPr/>
        </p:nvSpPr>
        <p:spPr>
          <a:xfrm>
            <a:off x="4597400" y="3479800"/>
            <a:ext cx="29972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地址管理模块</a:t>
            </a:r>
            <a:endParaRPr lang="en-US" sz="1100"/>
          </a:p>
          <a:p>
            <a:pPr indent="0" algn="l">
              <a:lnSpc>
                <a:spcPct val="108333"/>
              </a:lnSpc>
              <a:spcBef>
                <a:spcPts val="400"/>
              </a:spcBef>
            </a:pPr>
            <a:r>
              <a:rPr lang="en-US" sz="11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收货地址新增、修改、删除、默认地址设置与管理</a:t>
            </a:r>
          </a:p>
        </p:txBody>
      </p:sp>
      <p:sp>
        <p:nvSpPr>
          <p:cNvPr id="20" name="AutoShape 20"/>
          <p:cNvSpPr/>
          <p:nvPr/>
        </p:nvSpPr>
        <p:spPr>
          <a:xfrm>
            <a:off x="4445000" y="4699000"/>
            <a:ext cx="3302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4445000" y="4699000"/>
            <a:ext cx="33020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AutoShape 22"/>
          <p:cNvSpPr/>
          <p:nvPr/>
        </p:nvSpPr>
        <p:spPr>
          <a:xfrm>
            <a:off x="4597400" y="4876800"/>
            <a:ext cx="29972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收藏与点赞模块</a:t>
            </a:r>
            <a:endParaRPr lang="en-US" sz="1100"/>
          </a:p>
          <a:p>
            <a:pPr indent="0" algn="l">
              <a:lnSpc>
                <a:spcPct val="108333"/>
              </a:lnSpc>
              <a:spcBef>
                <a:spcPts val="400"/>
              </a:spcBef>
            </a:pPr>
            <a:r>
              <a:rPr lang="en-US" sz="11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商品收藏、取消收藏、我的收藏查询、商品与评论的点赞互动</a:t>
            </a:r>
          </a:p>
        </p:txBody>
      </p:sp>
      <p:sp>
        <p:nvSpPr>
          <p:cNvPr id="23" name="AutoShape 23"/>
          <p:cNvSpPr/>
          <p:nvPr/>
        </p:nvSpPr>
        <p:spPr>
          <a:xfrm>
            <a:off x="8128000" y="1905000"/>
            <a:ext cx="3302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AutoShape 24"/>
          <p:cNvSpPr/>
          <p:nvPr/>
        </p:nvSpPr>
        <p:spPr>
          <a:xfrm>
            <a:off x="8128000" y="1905000"/>
            <a:ext cx="33020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AutoShape 25"/>
          <p:cNvSpPr/>
          <p:nvPr/>
        </p:nvSpPr>
        <p:spPr>
          <a:xfrm>
            <a:off x="8280400" y="2082800"/>
            <a:ext cx="29972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评论互动模块</a:t>
            </a:r>
            <a:endParaRPr lang="en-US" sz="1100"/>
          </a:p>
          <a:p>
            <a:pPr indent="0" algn="l">
              <a:lnSpc>
                <a:spcPct val="108333"/>
              </a:lnSpc>
              <a:spcBef>
                <a:spcPts val="400"/>
              </a:spcBef>
            </a:pPr>
            <a:r>
              <a:rPr lang="en-US" sz="11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支持父子评论结构的商品评论、回复评论及评论管理功能</a:t>
            </a:r>
          </a:p>
        </p:txBody>
      </p:sp>
      <p:sp>
        <p:nvSpPr>
          <p:cNvPr id="26" name="AutoShape 26"/>
          <p:cNvSpPr/>
          <p:nvPr/>
        </p:nvSpPr>
        <p:spPr>
          <a:xfrm>
            <a:off x="8128000" y="3302000"/>
            <a:ext cx="3302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7" name="AutoShape 27"/>
          <p:cNvSpPr/>
          <p:nvPr/>
        </p:nvSpPr>
        <p:spPr>
          <a:xfrm>
            <a:off x="8128000" y="3302000"/>
            <a:ext cx="33020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8" name="AutoShape 28"/>
          <p:cNvSpPr/>
          <p:nvPr/>
        </p:nvSpPr>
        <p:spPr>
          <a:xfrm>
            <a:off x="8280400" y="3479800"/>
            <a:ext cx="29972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即时聊天模块</a:t>
            </a:r>
            <a:endParaRPr lang="en-US" sz="1100"/>
          </a:p>
          <a:p>
            <a:pPr indent="0" algn="l">
              <a:lnSpc>
                <a:spcPct val="108333"/>
              </a:lnSpc>
              <a:spcBef>
                <a:spcPts val="400"/>
              </a:spcBef>
            </a:pPr>
            <a:r>
              <a:rPr lang="en-US" sz="11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基于WebSocket技术实现会话创建、消息发送与历史消息查询</a:t>
            </a:r>
          </a:p>
        </p:txBody>
      </p:sp>
      <p:sp>
        <p:nvSpPr>
          <p:cNvPr id="29" name="AutoShape 29"/>
          <p:cNvSpPr/>
          <p:nvPr/>
        </p:nvSpPr>
        <p:spPr>
          <a:xfrm>
            <a:off x="8128000" y="4699000"/>
            <a:ext cx="3302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0" name="AutoShape 30"/>
          <p:cNvSpPr/>
          <p:nvPr/>
        </p:nvSpPr>
        <p:spPr>
          <a:xfrm>
            <a:off x="8128000" y="4699000"/>
            <a:ext cx="33020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1" name="AutoShape 31"/>
          <p:cNvSpPr/>
          <p:nvPr/>
        </p:nvSpPr>
        <p:spPr>
          <a:xfrm>
            <a:off x="8280400" y="4876800"/>
            <a:ext cx="29972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综合管理与AI赋能</a:t>
            </a:r>
            <a:endParaRPr lang="en-US" sz="1100"/>
          </a:p>
          <a:p>
            <a:pPr indent="0" algn="l">
              <a:lnSpc>
                <a:spcPct val="108333"/>
              </a:lnSpc>
              <a:spcBef>
                <a:spcPts val="400"/>
              </a:spcBef>
            </a:pPr>
            <a:r>
              <a:rPr lang="en-US" sz="11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涵盖AI对话辅助、后台系统管理、数据可视化统计及微服务网关治理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04 核心业务流程设计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5207000" cy="4826000"/>
          </a:xfrm>
          <a:prstGeom prst="roundRect">
            <a:avLst>
              <a:gd name="adj" fmla="val 3157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rcRect t="3537" b="3537"/>
          <a:stretch>
            <a:fillRect/>
          </a:stretch>
        </p:blipFill>
        <p:spPr>
          <a:xfrm>
            <a:off x="1016000" y="1841500"/>
            <a:ext cx="1778000" cy="2286000"/>
          </a:xfrm>
          <a:prstGeom prst="roundRect">
            <a:avLst>
              <a:gd name="adj" fmla="val 5714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AutoShape 6"/>
          <p:cNvSpPr/>
          <p:nvPr/>
        </p:nvSpPr>
        <p:spPr>
          <a:xfrm>
            <a:off x="3048000" y="1841500"/>
            <a:ext cx="26670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20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用户注册登录流程</a:t>
            </a:r>
            <a:endParaRPr lang="en-US" sz="1100"/>
          </a:p>
          <a:p>
            <a:pPr indent="0" algn="l">
              <a:lnSpc>
                <a:spcPct val="116666"/>
              </a:lnSpc>
              <a:spcBef>
                <a:spcPts val="1200"/>
              </a:spcBef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用户通过用户名和密码进行注册或登录。系统提供基础的身份认证功能，确保用户账号的安全与登录状态的稳定。</a:t>
            </a:r>
          </a:p>
        </p:txBody>
      </p:sp>
      <p:sp>
        <p:nvSpPr>
          <p:cNvPr id="7" name="AutoShape 7"/>
          <p:cNvSpPr/>
          <p:nvPr/>
        </p:nvSpPr>
        <p:spPr>
          <a:xfrm>
            <a:off x="1016000" y="4318000"/>
            <a:ext cx="4699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🔑 关键技术实现</a:t>
            </a:r>
            <a:endParaRPr lang="en-US" sz="1100"/>
          </a:p>
          <a:p>
            <a:pPr indent="0" algn="l">
              <a:lnSpc>
                <a:spcPct val="125000"/>
              </a:lnSpc>
              <a:spcBef>
                <a:spcPts val="800"/>
              </a:spcBef>
            </a:pP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en-US" sz="1300" b="1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注册加密：</a:t>
            </a: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严格校验用户名唯一性，使用</a:t>
            </a:r>
            <a:r>
              <a:rPr lang="en-US" sz="13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MD5算法</a:t>
            </a: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对用户密码进行加密存储，保障数据隐私。</a:t>
            </a:r>
          </a:p>
          <a:p>
            <a:pPr indent="0" algn="l">
              <a:lnSpc>
                <a:spcPct val="125000"/>
              </a:lnSpc>
              <a:spcBef>
                <a:spcPts val="600"/>
              </a:spcBef>
            </a:pP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en-US" sz="1300" b="1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登录态管理：</a:t>
            </a: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验证成功后生成</a:t>
            </a:r>
            <a:r>
              <a:rPr lang="en-US" sz="13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JWT Token</a:t>
            </a: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，并将关键信息存入</a:t>
            </a:r>
            <a:r>
              <a:rPr lang="en-US" sz="13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Redis</a:t>
            </a: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实现高效、分布式的登录态校验与管理。</a:t>
            </a:r>
          </a:p>
        </p:txBody>
      </p:sp>
      <p:sp>
        <p:nvSpPr>
          <p:cNvPr id="8" name="AutoShape 8"/>
          <p:cNvSpPr/>
          <p:nvPr/>
        </p:nvSpPr>
        <p:spPr>
          <a:xfrm>
            <a:off x="6223000" y="1524000"/>
            <a:ext cx="5207000" cy="4826000"/>
          </a:xfrm>
          <a:prstGeom prst="roundRect">
            <a:avLst>
              <a:gd name="adj" fmla="val 3157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5"/>
          <a:srcRect t="10272" b="10272"/>
          <a:stretch>
            <a:fillRect/>
          </a:stretch>
        </p:blipFill>
        <p:spPr>
          <a:xfrm>
            <a:off x="6477000" y="1841500"/>
            <a:ext cx="1778000" cy="2286000"/>
          </a:xfrm>
          <a:prstGeom prst="roundRect">
            <a:avLst>
              <a:gd name="adj" fmla="val 5714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0" name="AutoShape 10"/>
          <p:cNvSpPr/>
          <p:nvPr/>
        </p:nvSpPr>
        <p:spPr>
          <a:xfrm>
            <a:off x="8509000" y="1841500"/>
            <a:ext cx="26670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20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商品发布与审核流程</a:t>
            </a:r>
            <a:endParaRPr lang="en-US" sz="1100"/>
          </a:p>
          <a:p>
            <a:pPr indent="0" algn="l">
              <a:lnSpc>
                <a:spcPct val="116666"/>
              </a:lnSpc>
              <a:spcBef>
                <a:spcPts val="1200"/>
              </a:spcBef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卖家在平台提交商品信息后，需经过后台的双重审核机制，通过后方可在前台展示售卖，以维护平台内容的合规性与质量。</a:t>
            </a:r>
          </a:p>
        </p:txBody>
      </p:sp>
      <p:sp>
        <p:nvSpPr>
          <p:cNvPr id="11" name="AutoShape 11"/>
          <p:cNvSpPr/>
          <p:nvPr/>
        </p:nvSpPr>
        <p:spPr>
          <a:xfrm>
            <a:off x="6477000" y="4318000"/>
            <a:ext cx="4699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📦 核心流转节点</a:t>
            </a:r>
            <a:endParaRPr lang="en-US" sz="1100"/>
          </a:p>
          <a:p>
            <a:pPr indent="0" algn="l">
              <a:lnSpc>
                <a:spcPct val="133333"/>
              </a:lnSpc>
              <a:spcBef>
                <a:spcPts val="800"/>
              </a:spcBef>
            </a:pP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1.</a:t>
            </a:r>
            <a:r>
              <a:rPr lang="en-US" sz="1300" b="1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卖家提交：</a:t>
            </a: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填写SKU、价格、描述、图片等商品全维度信息。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2.</a:t>
            </a:r>
            <a:r>
              <a:rPr lang="en-US" sz="1300" b="1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后端校验：</a:t>
            </a: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系统自动校验必填项、价格范围、违禁词等。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3.</a:t>
            </a:r>
            <a:r>
              <a:rPr lang="en-US" sz="1300" b="1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人工审核：</a:t>
            </a: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管理员审核商品类目准确性及内容合规性。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4.</a:t>
            </a:r>
            <a:r>
              <a:rPr lang="en-US" sz="1300" b="1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状态同步：</a:t>
            </a: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审核通过则更新为“在售”状态，否则驳回并告知原因。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04 核心业务流程设计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207000" cy="4699000"/>
          </a:xfrm>
          <a:prstGeom prst="roundRect">
            <a:avLst>
              <a:gd name="adj" fmla="val 324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1905000"/>
            <a:ext cx="355600" cy="3556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524000" y="1879600"/>
            <a:ext cx="4064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订单交易流程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2667000"/>
            <a:ext cx="22860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3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流程描述：</a:t>
            </a:r>
            <a:endParaRPr lang="en-US" sz="1100"/>
          </a:p>
          <a:p>
            <a:pPr indent="0" algn="l">
              <a:lnSpc>
                <a:spcPct val="116666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覆盖从买家下单到交易完成或退款的全生命周期，保障买卖双方权益。</a:t>
            </a:r>
          </a:p>
          <a:p>
            <a:pPr indent="0" algn="l">
              <a:lnSpc>
                <a:spcPct val="116666"/>
              </a:lnSpc>
              <a:spcBef>
                <a:spcPts val="1600"/>
              </a:spcBef>
            </a:pPr>
            <a:r>
              <a:rPr lang="en-US" sz="13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关键流转节点：</a:t>
            </a:r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买家下单 → 待付款 → 待发货 → 待收货 → 交易完成 (支持全链路退款)</a:t>
            </a: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5"/>
          <a:srcRect t="20557" b="20557"/>
          <a:stretch>
            <a:fillRect/>
          </a:stretch>
        </p:blipFill>
        <p:spPr>
          <a:xfrm>
            <a:off x="3429000" y="2667000"/>
            <a:ext cx="2159000" cy="3048000"/>
          </a:xfrm>
          <a:prstGeom prst="roundRect">
            <a:avLst>
              <a:gd name="adj" fmla="val 4705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9" name="AutoShape 9"/>
          <p:cNvSpPr/>
          <p:nvPr/>
        </p:nvSpPr>
        <p:spPr>
          <a:xfrm>
            <a:off x="6223000" y="1651000"/>
            <a:ext cx="5207000" cy="4699000"/>
          </a:xfrm>
          <a:prstGeom prst="roundRect">
            <a:avLst>
              <a:gd name="adj" fmla="val 324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77000" y="1905000"/>
            <a:ext cx="355600" cy="3556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6985000" y="1879600"/>
            <a:ext cx="4064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在线聊天流程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477000" y="2667000"/>
            <a:ext cx="22860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3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流程描述：</a:t>
            </a:r>
            <a:endParaRPr lang="en-US" sz="1100"/>
          </a:p>
          <a:p>
            <a:pPr indent="0" algn="l">
              <a:lnSpc>
                <a:spcPct val="116666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支持买卖双方即时沟通，解决售前咨询及售后问题，促进交易达成。</a:t>
            </a:r>
          </a:p>
          <a:p>
            <a:pPr indent="0" algn="l">
              <a:lnSpc>
                <a:spcPct val="116666"/>
              </a:lnSpc>
              <a:spcBef>
                <a:spcPts val="1600"/>
              </a:spcBef>
            </a:pPr>
            <a:r>
              <a:rPr lang="en-US" sz="13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核心技术与节点：</a:t>
            </a:r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基于</a:t>
            </a:r>
            <a:r>
              <a:rPr lang="en-US" sz="12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WebSocket</a:t>
            </a: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实现实时推送，流程为：进入聊天页 → 建立会话 → 消息实时推送 → 消息持久化入库。</a:t>
            </a: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7"/>
          <a:srcRect t="14815" b="14815"/>
          <a:stretch>
            <a:fillRect/>
          </a:stretch>
        </p:blipFill>
        <p:spPr>
          <a:xfrm>
            <a:off x="8890000" y="2667000"/>
            <a:ext cx="2159000" cy="3048000"/>
          </a:xfrm>
          <a:prstGeom prst="roundRect">
            <a:avLst>
              <a:gd name="adj" fmla="val 4705"/>
            </a:avLst>
          </a:prstGeom>
          <a:noFill/>
          <a:ln w="25400" cap="flat" cmpd="sng">
            <a:noFill/>
            <a:prstDash val="solid"/>
            <a:round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05 数据库设计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207000" cy="4572000"/>
          </a:xfrm>
          <a:prstGeom prst="roundRect">
            <a:avLst>
              <a:gd name="adj" fmla="val 3333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066800" y="1955800"/>
            <a:ext cx="45974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▍ 数据库概述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66800" y="2667000"/>
            <a:ext cx="4597400" cy="1079500"/>
          </a:xfrm>
          <a:prstGeom prst="roundRect">
            <a:avLst>
              <a:gd name="adj" fmla="val 9411"/>
            </a:avLst>
          </a:prstGeom>
          <a:solidFill>
            <a:srgbClr val="F0FDF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70000" y="2921000"/>
            <a:ext cx="558800" cy="5588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2032000" y="2857500"/>
            <a:ext cx="3302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数据库选型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选用稳定、高性能的 MySQL 8.0 版本，满足业务需求。</a:t>
            </a:r>
          </a:p>
        </p:txBody>
      </p:sp>
      <p:sp>
        <p:nvSpPr>
          <p:cNvPr id="9" name="AutoShape 9"/>
          <p:cNvSpPr/>
          <p:nvPr/>
        </p:nvSpPr>
        <p:spPr>
          <a:xfrm>
            <a:off x="1066800" y="3937000"/>
            <a:ext cx="4597400" cy="1079500"/>
          </a:xfrm>
          <a:prstGeom prst="roundRect">
            <a:avLst>
              <a:gd name="adj" fmla="val 9411"/>
            </a:avLst>
          </a:prstGeom>
          <a:solidFill>
            <a:srgbClr val="F0FDF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70000" y="4191000"/>
            <a:ext cx="558800" cy="5588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2032000" y="4127500"/>
            <a:ext cx="3302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数据库名称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统一命名为</a:t>
            </a:r>
            <a:r>
              <a:rPr lang="en-US" sz="1400" b="1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shop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，便于管理与识别。</a:t>
            </a:r>
          </a:p>
        </p:txBody>
      </p:sp>
      <p:sp>
        <p:nvSpPr>
          <p:cNvPr id="12" name="AutoShape 12"/>
          <p:cNvSpPr/>
          <p:nvPr/>
        </p:nvSpPr>
        <p:spPr>
          <a:xfrm>
            <a:off x="1066800" y="5207000"/>
            <a:ext cx="4597400" cy="1079500"/>
          </a:xfrm>
          <a:prstGeom prst="roundRect">
            <a:avLst>
              <a:gd name="adj" fmla="val 9411"/>
            </a:avLst>
          </a:prstGeom>
          <a:solidFill>
            <a:srgbClr val="F0FDF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70000" y="5461000"/>
            <a:ext cx="558800" cy="5588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2032000" y="5397500"/>
            <a:ext cx="3302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核心表数量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包含20余张核心数据表，实现数据规范化存储。</a:t>
            </a:r>
          </a:p>
        </p:txBody>
      </p:sp>
      <p:sp>
        <p:nvSpPr>
          <p:cNvPr id="15" name="AutoShape 15"/>
          <p:cNvSpPr/>
          <p:nvPr/>
        </p:nvSpPr>
        <p:spPr>
          <a:xfrm>
            <a:off x="6223000" y="1651000"/>
            <a:ext cx="5207000" cy="4572000"/>
          </a:xfrm>
          <a:prstGeom prst="roundRect">
            <a:avLst>
              <a:gd name="adj" fmla="val 3333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6527800" y="1955800"/>
            <a:ext cx="45974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▍ 核心数据表说明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覆盖用户、权限、商品、订单及聊天等所有核心业务场景</a:t>
            </a:r>
          </a:p>
        </p:txBody>
      </p:sp>
      <p:sp>
        <p:nvSpPr>
          <p:cNvPr id="17" name="AutoShape 17"/>
          <p:cNvSpPr/>
          <p:nvPr/>
        </p:nvSpPr>
        <p:spPr>
          <a:xfrm>
            <a:off x="6527800" y="2794000"/>
            <a:ext cx="4597400" cy="635000"/>
          </a:xfrm>
          <a:prstGeom prst="roundRect">
            <a:avLst>
              <a:gd name="adj" fmla="val 12000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6527800" y="2794000"/>
            <a:ext cx="50800" cy="6350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19"/>
          <p:cNvSpPr/>
          <p:nvPr/>
        </p:nvSpPr>
        <p:spPr>
          <a:xfrm>
            <a:off x="6731000" y="29210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user 表：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存储系统用户的核心身份与注册信息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527800" y="3556000"/>
            <a:ext cx="4597400" cy="635000"/>
          </a:xfrm>
          <a:prstGeom prst="roundRect">
            <a:avLst>
              <a:gd name="adj" fmla="val 12000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6527800" y="3556000"/>
            <a:ext cx="50800" cy="6350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AutoShape 22"/>
          <p:cNvSpPr/>
          <p:nvPr/>
        </p:nvSpPr>
        <p:spPr>
          <a:xfrm>
            <a:off x="6731000" y="36830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roles / permissions 表：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基于RBAC模型，实现系统角色与权限的精细化管控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6527800" y="4318000"/>
            <a:ext cx="4597400" cy="635000"/>
          </a:xfrm>
          <a:prstGeom prst="roundRect">
            <a:avLst>
              <a:gd name="adj" fmla="val 12000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AutoShape 24"/>
          <p:cNvSpPr/>
          <p:nvPr/>
        </p:nvSpPr>
        <p:spPr>
          <a:xfrm>
            <a:off x="6527800" y="4318000"/>
            <a:ext cx="50800" cy="6350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AutoShape 25"/>
          <p:cNvSpPr/>
          <p:nvPr/>
        </p:nvSpPr>
        <p:spPr>
          <a:xfrm>
            <a:off x="6731000" y="44450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goods &amp; order_info 表：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支撑商品展示与交易流程的业务主表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6527800" y="5080000"/>
            <a:ext cx="4597400" cy="635000"/>
          </a:xfrm>
          <a:prstGeom prst="roundRect">
            <a:avLst>
              <a:gd name="adj" fmla="val 12000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7" name="AutoShape 27"/>
          <p:cNvSpPr/>
          <p:nvPr/>
        </p:nvSpPr>
        <p:spPr>
          <a:xfrm>
            <a:off x="6527800" y="5080000"/>
            <a:ext cx="50800" cy="6350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8" name="AutoShape 28"/>
          <p:cNvSpPr/>
          <p:nvPr/>
        </p:nvSpPr>
        <p:spPr>
          <a:xfrm>
            <a:off x="6731000" y="52070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chat_session / chat_message 表：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实现用户实时沟通与历史记录留存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05 数据库设计：ER图与关键关系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6350000" y="1651000"/>
            <a:ext cx="5080000" cy="1206500"/>
          </a:xfrm>
          <a:prstGeom prst="roundRect">
            <a:avLst>
              <a:gd name="adj" fmla="val 12631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40500" y="1841500"/>
            <a:ext cx="355600" cy="3556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7112000" y="1778000"/>
            <a:ext cx="4064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核心蓝图：ER图的价值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清晰展示了系统内各数据表之间的关联逻辑，是保证数据库结构合理性、规范性与可维护性的基石。</a:t>
            </a:r>
          </a:p>
        </p:txBody>
      </p:sp>
      <p:sp>
        <p:nvSpPr>
          <p:cNvPr id="7" name="AutoShape 7"/>
          <p:cNvSpPr/>
          <p:nvPr/>
        </p:nvSpPr>
        <p:spPr>
          <a:xfrm>
            <a:off x="6350000" y="3048000"/>
            <a:ext cx="2476500" cy="1714500"/>
          </a:xfrm>
          <a:prstGeom prst="roundRect">
            <a:avLst>
              <a:gd name="adj" fmla="val 8888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40500" y="3238500"/>
            <a:ext cx="304800" cy="3048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6985000" y="3200400"/>
            <a:ext cx="17145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业务实体关系</a:t>
            </a:r>
            <a:endParaRPr lang="en-US" sz="1100"/>
          </a:p>
          <a:p>
            <a:pPr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en-US" sz="1200" b="1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用户与商品：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一对多，支持多商品发布与购买</a:t>
            </a:r>
          </a:p>
          <a:p>
            <a:pPr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en-US" sz="1200" b="1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商品与分类：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多对一，便于分类检索</a:t>
            </a:r>
          </a:p>
        </p:txBody>
      </p:sp>
      <p:sp>
        <p:nvSpPr>
          <p:cNvPr id="10" name="AutoShape 10"/>
          <p:cNvSpPr/>
          <p:nvPr/>
        </p:nvSpPr>
        <p:spPr>
          <a:xfrm>
            <a:off x="8953500" y="3048000"/>
            <a:ext cx="2476500" cy="1714500"/>
          </a:xfrm>
          <a:prstGeom prst="roundRect">
            <a:avLst>
              <a:gd name="adj" fmla="val 8888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144000" y="3238500"/>
            <a:ext cx="304800" cy="3048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9588500" y="3200400"/>
            <a:ext cx="17145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互动数据关系</a:t>
            </a:r>
            <a:endParaRPr lang="en-US" sz="1100"/>
          </a:p>
          <a:p>
            <a:pPr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en-US" sz="1200" b="1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商品与互动：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一对多关系，关联图片、评论、收藏、点赞表，支持高频交互扩展。</a:t>
            </a:r>
          </a:p>
        </p:txBody>
      </p:sp>
      <p:sp>
        <p:nvSpPr>
          <p:cNvPr id="13" name="AutoShape 13"/>
          <p:cNvSpPr/>
          <p:nvPr/>
        </p:nvSpPr>
        <p:spPr>
          <a:xfrm>
            <a:off x="6350000" y="4953000"/>
            <a:ext cx="2476500" cy="1397000"/>
          </a:xfrm>
          <a:prstGeom prst="roundRect">
            <a:avLst>
              <a:gd name="adj" fmla="val 10909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540500" y="5143500"/>
            <a:ext cx="304800" cy="3048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6985000" y="5105400"/>
            <a:ext cx="1714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RBAC 权限模型</a:t>
            </a:r>
            <a:endParaRPr lang="en-US" sz="1100"/>
          </a:p>
          <a:p>
            <a:pPr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用户-角色-权限三层解耦，通过关联表实现灵活的细粒度权限控制。</a:t>
            </a:r>
          </a:p>
        </p:txBody>
      </p:sp>
      <p:sp>
        <p:nvSpPr>
          <p:cNvPr id="16" name="AutoShape 16"/>
          <p:cNvSpPr/>
          <p:nvPr/>
        </p:nvSpPr>
        <p:spPr>
          <a:xfrm>
            <a:off x="8953500" y="4953000"/>
            <a:ext cx="2476500" cy="1397000"/>
          </a:xfrm>
          <a:prstGeom prst="roundRect">
            <a:avLst>
              <a:gd name="adj" fmla="val 10909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144000" y="5143500"/>
            <a:ext cx="304800" cy="3048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9588500" y="5105400"/>
            <a:ext cx="1714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即时通讯架构</a:t>
            </a:r>
            <a:endParaRPr lang="en-US" sz="1100"/>
          </a:p>
          <a:p>
            <a:pPr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会话(chat_session)与消息(chat_message)为一对多关系，保证聊天记录的完整性。</a:t>
            </a:r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DA64154E-0891-AF70-0135-AB172E9B9F1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7590" y="1668942"/>
            <a:ext cx="6082710" cy="447261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06 系统实现与技术栈：前端技术栈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3302000" cy="2159000"/>
          </a:xfrm>
          <a:prstGeom prst="roundRect">
            <a:avLst>
              <a:gd name="adj" fmla="val 7058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F3F4F6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rcRect l="26562" r="26562"/>
          <a:stretch>
            <a:fillRect/>
          </a:stretch>
        </p:blipFill>
        <p:spPr>
          <a:xfrm>
            <a:off x="952500" y="1905000"/>
            <a:ext cx="812800" cy="812800"/>
          </a:xfrm>
          <a:prstGeom prst="roundRect">
            <a:avLst>
              <a:gd name="adj" fmla="val 12500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AutoShape 6"/>
          <p:cNvSpPr/>
          <p:nvPr/>
        </p:nvSpPr>
        <p:spPr>
          <a:xfrm>
            <a:off x="1968500" y="1841500"/>
            <a:ext cx="1905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核心框架</a:t>
            </a:r>
            <a:endParaRPr lang="en-US" sz="1100"/>
          </a:p>
          <a:p>
            <a:pPr indent="0" algn="l">
              <a:lnSpc>
                <a:spcPct val="100000"/>
              </a:lnSpc>
              <a:spcBef>
                <a:spcPts val="800"/>
              </a:spcBef>
            </a:pPr>
            <a:r>
              <a:rPr lang="en-US" sz="15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Vue3 + Vite</a:t>
            </a:r>
          </a:p>
          <a:p>
            <a:pPr indent="0" algn="l">
              <a:lnSpc>
                <a:spcPct val="108333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高性能构建工具，提供极致的开发体验与运行效率，拥抱最新ECMAScript标准。</a:t>
            </a:r>
          </a:p>
        </p:txBody>
      </p:sp>
      <p:sp>
        <p:nvSpPr>
          <p:cNvPr id="7" name="AutoShape 7"/>
          <p:cNvSpPr/>
          <p:nvPr/>
        </p:nvSpPr>
        <p:spPr>
          <a:xfrm>
            <a:off x="4445000" y="1651000"/>
            <a:ext cx="3302000" cy="2159000"/>
          </a:xfrm>
          <a:prstGeom prst="roundRect">
            <a:avLst>
              <a:gd name="adj" fmla="val 7058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F3F4F6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4635500" y="1905000"/>
            <a:ext cx="812800" cy="812800"/>
          </a:xfrm>
          <a:prstGeom prst="roundRect">
            <a:avLst>
              <a:gd name="adj" fmla="val 12500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9" name="AutoShape 9"/>
          <p:cNvSpPr/>
          <p:nvPr/>
        </p:nvSpPr>
        <p:spPr>
          <a:xfrm>
            <a:off x="5651500" y="1841500"/>
            <a:ext cx="1905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UI 组件库</a:t>
            </a:r>
            <a:endParaRPr lang="en-US" sz="1100"/>
          </a:p>
          <a:p>
            <a:pPr indent="0" algn="l">
              <a:lnSpc>
                <a:spcPct val="100000"/>
              </a:lnSpc>
              <a:spcBef>
                <a:spcPts val="800"/>
              </a:spcBef>
            </a:pPr>
            <a:r>
              <a:rPr lang="en-US" sz="15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Element Plus</a:t>
            </a:r>
          </a:p>
          <a:p>
            <a:pPr indent="0" algn="l">
              <a:lnSpc>
                <a:spcPct val="108333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基于 Vue3 的企业级组件库，支持按需引入，快速搭建专业、一致的系统界面。</a:t>
            </a:r>
          </a:p>
        </p:txBody>
      </p:sp>
      <p:sp>
        <p:nvSpPr>
          <p:cNvPr id="10" name="AutoShape 10"/>
          <p:cNvSpPr/>
          <p:nvPr/>
        </p:nvSpPr>
        <p:spPr>
          <a:xfrm>
            <a:off x="8128000" y="1651000"/>
            <a:ext cx="3302000" cy="2159000"/>
          </a:xfrm>
          <a:prstGeom prst="roundRect">
            <a:avLst>
              <a:gd name="adj" fmla="val 7058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F3F4F6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6"/>
          <a:srcRect l="12499" r="12500"/>
          <a:stretch>
            <a:fillRect/>
          </a:stretch>
        </p:blipFill>
        <p:spPr>
          <a:xfrm>
            <a:off x="8318500" y="1905000"/>
            <a:ext cx="812800" cy="812800"/>
          </a:xfrm>
          <a:prstGeom prst="roundRect">
            <a:avLst>
              <a:gd name="adj" fmla="val 12500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2" name="AutoShape 12"/>
          <p:cNvSpPr/>
          <p:nvPr/>
        </p:nvSpPr>
        <p:spPr>
          <a:xfrm>
            <a:off x="9334500" y="1841500"/>
            <a:ext cx="1905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数据可视化</a:t>
            </a:r>
            <a:endParaRPr lang="en-US" sz="1100"/>
          </a:p>
          <a:p>
            <a:pPr indent="0" algn="l">
              <a:lnSpc>
                <a:spcPct val="100000"/>
              </a:lnSpc>
              <a:spcBef>
                <a:spcPts val="800"/>
              </a:spcBef>
            </a:pPr>
            <a:r>
              <a:rPr lang="en-US" sz="15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Apache ECharts</a:t>
            </a:r>
          </a:p>
          <a:p>
            <a:pPr indent="0" algn="l">
              <a:lnSpc>
                <a:spcPct val="108333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开源强大的数据可视化库，支持丰富的图表类型，轻松实现复杂业务数据的直观展示。</a:t>
            </a:r>
          </a:p>
        </p:txBody>
      </p:sp>
      <p:sp>
        <p:nvSpPr>
          <p:cNvPr id="13" name="AutoShape 13"/>
          <p:cNvSpPr/>
          <p:nvPr/>
        </p:nvSpPr>
        <p:spPr>
          <a:xfrm>
            <a:off x="762000" y="4191000"/>
            <a:ext cx="2667000" cy="2032000"/>
          </a:xfrm>
          <a:prstGeom prst="roundRect">
            <a:avLst>
              <a:gd name="adj" fmla="val 75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F3F4F6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2500" y="4445000"/>
            <a:ext cx="457200" cy="4572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1524000" y="4381500"/>
            <a:ext cx="1778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路由管理</a:t>
            </a:r>
            <a:endParaRPr lang="en-US" sz="1100"/>
          </a:p>
          <a:p>
            <a:pPr indent="0" algn="l">
              <a:lnSpc>
                <a:spcPct val="125000"/>
              </a:lnSpc>
              <a:spcBef>
                <a:spcPts val="600"/>
              </a:spcBef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Vue Router</a:t>
            </a:r>
          </a:p>
          <a:p>
            <a:pPr indent="0" algn="l">
              <a:lnSpc>
                <a:spcPct val="100000"/>
              </a:lnSpc>
              <a:spcBef>
                <a:spcPts val="800"/>
              </a:spcBef>
            </a:pPr>
            <a:r>
              <a:rPr lang="en-US" sz="11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SPA单页应用核心，实现组件间的无缝导航与权限控制。</a:t>
            </a:r>
          </a:p>
        </p:txBody>
      </p:sp>
      <p:sp>
        <p:nvSpPr>
          <p:cNvPr id="16" name="AutoShape 16"/>
          <p:cNvSpPr/>
          <p:nvPr/>
        </p:nvSpPr>
        <p:spPr>
          <a:xfrm>
            <a:off x="3556000" y="4191000"/>
            <a:ext cx="2667000" cy="2032000"/>
          </a:xfrm>
          <a:prstGeom prst="roundRect">
            <a:avLst>
              <a:gd name="adj" fmla="val 75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F3F4F6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746500" y="4445000"/>
            <a:ext cx="457200" cy="4572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4318000" y="4381500"/>
            <a:ext cx="1778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状态管理</a:t>
            </a:r>
            <a:endParaRPr lang="en-US" sz="1100"/>
          </a:p>
          <a:p>
            <a:pPr indent="0" algn="l">
              <a:lnSpc>
                <a:spcPct val="125000"/>
              </a:lnSpc>
              <a:spcBef>
                <a:spcPts val="600"/>
              </a:spcBef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Pinia</a:t>
            </a:r>
          </a:p>
          <a:p>
            <a:pPr indent="0" algn="l">
              <a:lnSpc>
                <a:spcPct val="100000"/>
              </a:lnSpc>
              <a:spcBef>
                <a:spcPts val="800"/>
              </a:spcBef>
            </a:pPr>
            <a:r>
              <a:rPr lang="en-US" sz="11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轻量级、模块化的状态管理库，完美适配 Vue3 的组合式 API。</a:t>
            </a:r>
          </a:p>
        </p:txBody>
      </p:sp>
      <p:sp>
        <p:nvSpPr>
          <p:cNvPr id="19" name="AutoShape 19"/>
          <p:cNvSpPr/>
          <p:nvPr/>
        </p:nvSpPr>
        <p:spPr>
          <a:xfrm>
            <a:off x="6350000" y="4191000"/>
            <a:ext cx="2667000" cy="2032000"/>
          </a:xfrm>
          <a:prstGeom prst="roundRect">
            <a:avLst>
              <a:gd name="adj" fmla="val 75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F3F4F6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540500" y="4445000"/>
            <a:ext cx="457200" cy="4572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7112000" y="4381500"/>
            <a:ext cx="1778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HTTP 请求</a:t>
            </a:r>
            <a:endParaRPr lang="en-US" sz="1100"/>
          </a:p>
          <a:p>
            <a:pPr indent="0" algn="l">
              <a:lnSpc>
                <a:spcPct val="125000"/>
              </a:lnSpc>
              <a:spcBef>
                <a:spcPts val="600"/>
              </a:spcBef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Axios / Fetch</a:t>
            </a:r>
          </a:p>
          <a:p>
            <a:pPr indent="0" algn="l">
              <a:lnSpc>
                <a:spcPct val="100000"/>
              </a:lnSpc>
              <a:spcBef>
                <a:spcPts val="800"/>
              </a:spcBef>
            </a:pPr>
            <a:r>
              <a:rPr lang="en-US" sz="11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处理客户端与后端服务器间的异步通信，统一封装请求拦截。</a:t>
            </a:r>
          </a:p>
        </p:txBody>
      </p:sp>
      <p:sp>
        <p:nvSpPr>
          <p:cNvPr id="22" name="AutoShape 22"/>
          <p:cNvSpPr/>
          <p:nvPr/>
        </p:nvSpPr>
        <p:spPr>
          <a:xfrm>
            <a:off x="9144000" y="4191000"/>
            <a:ext cx="2667000" cy="2032000"/>
          </a:xfrm>
          <a:prstGeom prst="roundRect">
            <a:avLst>
              <a:gd name="adj" fmla="val 75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F3F4F6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334500" y="4445000"/>
            <a:ext cx="457200" cy="4572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9906000" y="4381500"/>
            <a:ext cx="1778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Markdown 渲染</a:t>
            </a:r>
            <a:endParaRPr lang="en-US" sz="1100"/>
          </a:p>
          <a:p>
            <a:pPr indent="0" algn="l">
              <a:lnSpc>
                <a:spcPct val="125000"/>
              </a:lnSpc>
              <a:spcBef>
                <a:spcPts val="600"/>
              </a:spcBef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Markdown-it + highlight.js</a:t>
            </a:r>
          </a:p>
          <a:p>
            <a:pPr indent="0" algn="l">
              <a:lnSpc>
                <a:spcPct val="100000"/>
              </a:lnSpc>
              <a:spcBef>
                <a:spcPts val="800"/>
              </a:spcBef>
            </a:pPr>
            <a:r>
              <a:rPr lang="en-US" sz="11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专为AI模块设计，实现代码高亮与文档内容的优雅排版展示。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06 系统实现与技术栈：后端技术栈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2667000" cy="4318000"/>
          </a:xfrm>
          <a:prstGeom prst="roundRect">
            <a:avLst>
              <a:gd name="adj" fmla="val 5714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F3F4F6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rcRect t="12500" b="12500"/>
          <a:stretch>
            <a:fillRect/>
          </a:stretch>
        </p:blipFill>
        <p:spPr>
          <a:xfrm>
            <a:off x="1333500" y="2159000"/>
            <a:ext cx="1524000" cy="1143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AutoShape 6"/>
          <p:cNvSpPr/>
          <p:nvPr/>
        </p:nvSpPr>
        <p:spPr>
          <a:xfrm>
            <a:off x="889000" y="3556000"/>
            <a:ext cx="24130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8333"/>
              </a:lnSpc>
              <a:defRPr/>
            </a:pPr>
            <a:r>
              <a:rPr lang="en-US" sz="20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核心框架</a:t>
            </a:r>
            <a:endParaRPr lang="en-US" sz="1100"/>
          </a:p>
          <a:p>
            <a:pPr indent="0" algn="ctr">
              <a:lnSpc>
                <a:spcPct val="125000"/>
              </a:lnSpc>
              <a:spcBef>
                <a:spcPts val="1600"/>
              </a:spcBef>
            </a:pPr>
            <a:r>
              <a:rPr lang="en-US" sz="15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Spring Boot 3</a:t>
            </a:r>
          </a:p>
          <a:p>
            <a:pPr indent="0" algn="ctr">
              <a:lnSpc>
                <a:spcPct val="116666"/>
              </a:lnSpc>
              <a:spcBef>
                <a:spcPts val="1000"/>
              </a:spcBef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构建稳定、高效的应用基座，自动配置大幅降低开发成本，提升工程化标准。</a:t>
            </a:r>
          </a:p>
        </p:txBody>
      </p:sp>
      <p:sp>
        <p:nvSpPr>
          <p:cNvPr id="7" name="AutoShape 7"/>
          <p:cNvSpPr/>
          <p:nvPr/>
        </p:nvSpPr>
        <p:spPr>
          <a:xfrm>
            <a:off x="3556000" y="1778000"/>
            <a:ext cx="2667000" cy="4318000"/>
          </a:xfrm>
          <a:prstGeom prst="roundRect">
            <a:avLst>
              <a:gd name="adj" fmla="val 5714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F3F4F6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3683000" y="2159000"/>
            <a:ext cx="2413000" cy="368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8333"/>
              </a:lnSpc>
              <a:defRPr/>
            </a:pPr>
            <a:r>
              <a:rPr lang="en-US" sz="20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架构与生态</a:t>
            </a:r>
            <a:endParaRPr lang="en-US" sz="1100"/>
          </a:p>
          <a:p>
            <a:pPr indent="0" algn="l">
              <a:lnSpc>
                <a:spcPct val="116666"/>
              </a:lnSpc>
              <a:spcBef>
                <a:spcPts val="2000"/>
              </a:spcBef>
            </a:pPr>
            <a:r>
              <a:rPr lang="en-US" sz="13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🛠️ 微服务组件：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Spring Cloud Gateway, Nacos, OpenFeign, Sentinel</a:t>
            </a:r>
          </a:p>
          <a:p>
            <a:pPr indent="0" algn="l">
              <a:lnSpc>
                <a:spcPct val="116666"/>
              </a:lnSpc>
              <a:spcBef>
                <a:spcPts val="1500"/>
              </a:spcBef>
            </a:pPr>
            <a:r>
              <a:rPr lang="en-US" sz="13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🗄️ 数据访问：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MyBatis / MyBatis-Plus (高效CRUD)</a:t>
            </a:r>
          </a:p>
          <a:p>
            <a:pPr indent="0" algn="l">
              <a:lnSpc>
                <a:spcPct val="116666"/>
              </a:lnSpc>
              <a:spcBef>
                <a:spcPts val="1500"/>
              </a:spcBef>
            </a:pPr>
            <a:r>
              <a:rPr lang="en-US" sz="13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🧰 开发工具：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Spring AOP, Validation, SpringDoc/Swagger</a:t>
            </a:r>
          </a:p>
        </p:txBody>
      </p:sp>
      <p:sp>
        <p:nvSpPr>
          <p:cNvPr id="9" name="AutoShape 9"/>
          <p:cNvSpPr/>
          <p:nvPr/>
        </p:nvSpPr>
        <p:spPr>
          <a:xfrm>
            <a:off x="6350000" y="1778000"/>
            <a:ext cx="2667000" cy="4318000"/>
          </a:xfrm>
          <a:prstGeom prst="roundRect">
            <a:avLst>
              <a:gd name="adj" fmla="val 5714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F3F4F6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6477000" y="2032000"/>
            <a:ext cx="2413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数据存储</a:t>
            </a:r>
            <a:endParaRPr lang="en-US" sz="1100"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5"/>
          <a:srcRect l="5555" r="5555"/>
          <a:stretch>
            <a:fillRect/>
          </a:stretch>
        </p:blipFill>
        <p:spPr>
          <a:xfrm>
            <a:off x="6540500" y="2921000"/>
            <a:ext cx="1016000" cy="762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2" name="AutoShape 12"/>
          <p:cNvSpPr/>
          <p:nvPr/>
        </p:nvSpPr>
        <p:spPr>
          <a:xfrm>
            <a:off x="7620000" y="2984500"/>
            <a:ext cx="127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MySQL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1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关系型主数据库</a:t>
            </a:r>
            <a:endParaRPr lang="en-US" sz="1100"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6"/>
          <a:srcRect t="12500" b="12500"/>
          <a:stretch>
            <a:fillRect/>
          </a:stretch>
        </p:blipFill>
        <p:spPr>
          <a:xfrm>
            <a:off x="6540500" y="4191000"/>
            <a:ext cx="1016000" cy="762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4" name="AutoShape 14"/>
          <p:cNvSpPr/>
          <p:nvPr/>
        </p:nvSpPr>
        <p:spPr>
          <a:xfrm>
            <a:off x="7620000" y="4254500"/>
            <a:ext cx="127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Redis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1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高性能缓存/会话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9144000" y="1778000"/>
            <a:ext cx="2413000" cy="4318000"/>
          </a:xfrm>
          <a:prstGeom prst="roundRect">
            <a:avLst>
              <a:gd name="adj" fmla="val 631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F3F4F6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9271000" y="2032000"/>
            <a:ext cx="215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安全与通信</a:t>
            </a:r>
            <a:endParaRPr lang="en-US" sz="1100"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7"/>
          <a:srcRect l="1355" r="1355"/>
          <a:stretch>
            <a:fillRect/>
          </a:stretch>
        </p:blipFill>
        <p:spPr>
          <a:xfrm>
            <a:off x="9398000" y="2794000"/>
            <a:ext cx="1905000" cy="8255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8" name="AutoShape 18"/>
          <p:cNvSpPr/>
          <p:nvPr/>
        </p:nvSpPr>
        <p:spPr>
          <a:xfrm>
            <a:off x="9271000" y="3937000"/>
            <a:ext cx="2159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3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🔒 认证授权：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JWT + Spring Security (RBAC模型)</a:t>
            </a:r>
            <a:endParaRPr lang="en-US" sz="1100"/>
          </a:p>
          <a:p>
            <a:pPr indent="0" algn="l">
              <a:lnSpc>
                <a:spcPct val="116666"/>
              </a:lnSpc>
              <a:spcBef>
                <a:spcPts val="1500"/>
              </a:spcBef>
            </a:pPr>
            <a:r>
              <a:rPr lang="en-US" sz="13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⚡️ 实时交互：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WebSocket 双向通信，支持消息推送与即时响应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06 系统实现与技术栈：核心技术亮点</a:t>
            </a:r>
            <a:endParaRPr lang="en-US" sz="1100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 l="18675" r="18675"/>
          <a:stretch>
            <a:fillRect/>
          </a:stretch>
        </p:blipFill>
        <p:spPr>
          <a:xfrm>
            <a:off x="762000" y="1778000"/>
            <a:ext cx="4572000" cy="3302000"/>
          </a:xfrm>
          <a:prstGeom prst="rect">
            <a:avLst/>
          </a:prstGeom>
          <a:noFill/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</p:pic>
      <p:sp>
        <p:nvSpPr>
          <p:cNvPr id="4" name="AutoShape 4"/>
          <p:cNvSpPr/>
          <p:nvPr/>
        </p:nvSpPr>
        <p:spPr>
          <a:xfrm>
            <a:off x="762000" y="5334000"/>
            <a:ext cx="457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JWT + Redis 认证体系，兼顾无状态与安全管理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842000" y="1778000"/>
            <a:ext cx="2794000" cy="1460500"/>
          </a:xfrm>
          <a:prstGeom prst="roundRect">
            <a:avLst>
              <a:gd name="adj" fmla="val 6956"/>
            </a:avLst>
          </a:prstGeom>
          <a:solidFill>
            <a:srgbClr val="FFFFFF">
              <a:alpha val="90000"/>
            </a:srgbClr>
          </a:solidFill>
          <a:ln w="12700" cap="flat" cmpd="sng">
            <a:solidFill>
              <a:srgbClr val="F3F4F6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32500" y="20320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6604000" y="1930400"/>
            <a:ext cx="1905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JWT + Redis 登录态</a:t>
            </a:r>
            <a:endParaRPr lang="en-US" sz="1100"/>
          </a:p>
          <a:p>
            <a:pPr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实现无状态登录，利用Redis高效管理Token过期与续期逻辑，保障安全与性能。</a:t>
            </a:r>
          </a:p>
        </p:txBody>
      </p:sp>
      <p:sp>
        <p:nvSpPr>
          <p:cNvPr id="8" name="AutoShape 8"/>
          <p:cNvSpPr/>
          <p:nvPr/>
        </p:nvSpPr>
        <p:spPr>
          <a:xfrm>
            <a:off x="8890000" y="1778000"/>
            <a:ext cx="2794000" cy="1460500"/>
          </a:xfrm>
          <a:prstGeom prst="roundRect">
            <a:avLst>
              <a:gd name="adj" fmla="val 6956"/>
            </a:avLst>
          </a:prstGeom>
          <a:solidFill>
            <a:srgbClr val="FFFFFF">
              <a:alpha val="90000"/>
            </a:srgbClr>
          </a:solidFill>
          <a:ln w="12700" cap="flat" cmpd="sng">
            <a:solidFill>
              <a:srgbClr val="F3F4F6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080500" y="2032000"/>
            <a:ext cx="406400" cy="4064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9652000" y="1930400"/>
            <a:ext cx="1905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RBAC 动态权限控制</a:t>
            </a:r>
            <a:endParaRPr lang="en-US" sz="1100"/>
          </a:p>
          <a:p>
            <a:pPr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基于角色模型，实现菜单展示与API接口访问的双重精细化管控，灵活适配业务需求。</a:t>
            </a:r>
          </a:p>
        </p:txBody>
      </p:sp>
      <p:sp>
        <p:nvSpPr>
          <p:cNvPr id="11" name="AutoShape 11"/>
          <p:cNvSpPr/>
          <p:nvPr/>
        </p:nvSpPr>
        <p:spPr>
          <a:xfrm>
            <a:off x="5842000" y="3556000"/>
            <a:ext cx="2794000" cy="1460500"/>
          </a:xfrm>
          <a:prstGeom prst="roundRect">
            <a:avLst>
              <a:gd name="adj" fmla="val 6956"/>
            </a:avLst>
          </a:prstGeom>
          <a:solidFill>
            <a:srgbClr val="FFFFFF">
              <a:alpha val="90000"/>
            </a:srgbClr>
          </a:solidFill>
          <a:ln w="12700" cap="flat" cmpd="sng">
            <a:solidFill>
              <a:srgbClr val="F3F4F6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032500" y="3810000"/>
            <a:ext cx="406400" cy="4064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6604000" y="3708400"/>
            <a:ext cx="1905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WebSocket 实时聊天</a:t>
            </a:r>
            <a:endParaRPr lang="en-US" sz="1100"/>
          </a:p>
          <a:p>
            <a:pPr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建立全双工通信通道，支持毫秒级消息推送，提供低延迟、高流畅的用户即时通讯体验。</a:t>
            </a:r>
          </a:p>
        </p:txBody>
      </p:sp>
      <p:sp>
        <p:nvSpPr>
          <p:cNvPr id="14" name="AutoShape 14"/>
          <p:cNvSpPr/>
          <p:nvPr/>
        </p:nvSpPr>
        <p:spPr>
          <a:xfrm>
            <a:off x="8890000" y="3556000"/>
            <a:ext cx="2794000" cy="1460500"/>
          </a:xfrm>
          <a:prstGeom prst="roundRect">
            <a:avLst>
              <a:gd name="adj" fmla="val 6956"/>
            </a:avLst>
          </a:prstGeom>
          <a:solidFill>
            <a:srgbClr val="FFFFFF">
              <a:alpha val="90000"/>
            </a:srgbClr>
          </a:solidFill>
          <a:ln w="12700" cap="flat" cmpd="sng">
            <a:solidFill>
              <a:srgbClr val="F3F4F6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080500" y="3810000"/>
            <a:ext cx="406400" cy="4064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9652000" y="3708400"/>
            <a:ext cx="1905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AI 能力深度集成</a:t>
            </a:r>
            <a:endParaRPr lang="en-US" sz="1100"/>
          </a:p>
          <a:p>
            <a:pPr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对接主流大模型API，实现商品描述自动生成与智能客服对话，显著提升运营与服务效率。</a:t>
            </a:r>
          </a:p>
        </p:txBody>
      </p:sp>
      <p:sp>
        <p:nvSpPr>
          <p:cNvPr id="17" name="AutoShape 17"/>
          <p:cNvSpPr/>
          <p:nvPr/>
        </p:nvSpPr>
        <p:spPr>
          <a:xfrm>
            <a:off x="5842000" y="5207000"/>
            <a:ext cx="2794000" cy="1460500"/>
          </a:xfrm>
          <a:prstGeom prst="roundRect">
            <a:avLst>
              <a:gd name="adj" fmla="val 6956"/>
            </a:avLst>
          </a:prstGeom>
          <a:solidFill>
            <a:srgbClr val="FFFFFF">
              <a:alpha val="90000"/>
            </a:srgbClr>
          </a:solidFill>
          <a:ln w="12700" cap="flat" cmpd="sng">
            <a:solidFill>
              <a:srgbClr val="F3F4F6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032500" y="5461000"/>
            <a:ext cx="406400" cy="4064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6604000" y="5359400"/>
            <a:ext cx="1905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微服务架构设计</a:t>
            </a:r>
            <a:endParaRPr lang="en-US" sz="1100"/>
          </a:p>
          <a:p>
            <a:pPr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按领域划分服务边界，降低系统耦合度，为未来业务的高并发与高可用扩展打下坚实基础。</a:t>
            </a:r>
          </a:p>
        </p:txBody>
      </p:sp>
      <p:sp>
        <p:nvSpPr>
          <p:cNvPr id="20" name="AutoShape 20"/>
          <p:cNvSpPr/>
          <p:nvPr/>
        </p:nvSpPr>
        <p:spPr>
          <a:xfrm>
            <a:off x="8890000" y="5207000"/>
            <a:ext cx="2794000" cy="1460500"/>
          </a:xfrm>
          <a:prstGeom prst="roundRect">
            <a:avLst>
              <a:gd name="adj" fmla="val 6956"/>
            </a:avLst>
          </a:prstGeom>
          <a:solidFill>
            <a:srgbClr val="FFFFFF">
              <a:alpha val="90000"/>
            </a:srgbClr>
          </a:solidFill>
          <a:ln w="12700" cap="flat" cmpd="sng">
            <a:solidFill>
              <a:srgbClr val="F3F4F6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080500" y="5461000"/>
            <a:ext cx="406400" cy="4064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9652000" y="5359400"/>
            <a:ext cx="1905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前后端分离架构</a:t>
            </a:r>
            <a:endParaRPr lang="en-US" sz="1100"/>
          </a:p>
          <a:p>
            <a:pPr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物理隔离前后端开发环境，提升并行开发效率，同时优化了系统的可维护性与迭代速度。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07 总结与展望：项目总结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3302000" cy="4191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1778000"/>
            <a:ext cx="3302000" cy="762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32000" y="2286000"/>
            <a:ext cx="762000" cy="7620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952500" y="3302000"/>
            <a:ext cx="292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完成度</a:t>
            </a:r>
            <a:r>
              <a:rPr lang="en-US" sz="2000" b="1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 80%</a:t>
            </a:r>
            <a:endParaRPr lang="en-US" sz="1100" dirty="0"/>
          </a:p>
        </p:txBody>
      </p:sp>
      <p:sp>
        <p:nvSpPr>
          <p:cNvPr id="8" name="AutoShape 8"/>
          <p:cNvSpPr/>
          <p:nvPr/>
        </p:nvSpPr>
        <p:spPr>
          <a:xfrm>
            <a:off x="952500" y="4191000"/>
            <a:ext cx="2921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>
              <a:lnSpc>
                <a:spcPct val="125000"/>
              </a:lnSpc>
              <a:defRPr/>
            </a:pPr>
            <a:r>
              <a:rPr lang="en-US" sz="13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项目已高质量完成需求分析中定义的全部核心功能模块，覆盖了用户管理体系、商品交易全流程、社区互动交流、后台综合管理以及智能AI辅助等关键领域，无遗漏项。</a:t>
            </a:r>
            <a:endParaRPr lang="en-US" sz="1100" dirty="0"/>
          </a:p>
        </p:txBody>
      </p:sp>
      <p:sp>
        <p:nvSpPr>
          <p:cNvPr id="9" name="AutoShape 9"/>
          <p:cNvSpPr/>
          <p:nvPr/>
        </p:nvSpPr>
        <p:spPr>
          <a:xfrm>
            <a:off x="4445000" y="1778000"/>
            <a:ext cx="3302000" cy="4191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4445000" y="1778000"/>
            <a:ext cx="3302000" cy="762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15000" y="2286000"/>
            <a:ext cx="762000" cy="7620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4635500" y="3302000"/>
            <a:ext cx="292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主流技术架构落地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635500" y="4191000"/>
            <a:ext cx="2921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>
              <a:lnSpc>
                <a:spcPct val="125000"/>
              </a:lnSpc>
              <a:defRPr/>
            </a:pPr>
            <a:r>
              <a:rPr lang="en-US" sz="13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成功实践并整合多种前沿主流技术方案：前后端分离架构保障开发效率，微服务化提升系统扩展性，RBAC模型确保权限安全，WebSocket技术实现了系统的实时通信能力。</a:t>
            </a:r>
            <a:endParaRPr lang="en-US" sz="1100" dirty="0"/>
          </a:p>
        </p:txBody>
      </p:sp>
      <p:sp>
        <p:nvSpPr>
          <p:cNvPr id="14" name="AutoShape 14"/>
          <p:cNvSpPr/>
          <p:nvPr/>
        </p:nvSpPr>
        <p:spPr>
          <a:xfrm>
            <a:off x="8128000" y="1778000"/>
            <a:ext cx="3302000" cy="4191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8128000" y="1778000"/>
            <a:ext cx="3302000" cy="762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398000" y="2286000"/>
            <a:ext cx="762000" cy="7620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8318500" y="3302000"/>
            <a:ext cx="292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实用与先进兼具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8318500" y="4191000"/>
            <a:ext cx="2921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>
              <a:lnSpc>
                <a:spcPct val="125000"/>
              </a:lnSpc>
              <a:defRPr/>
            </a:pPr>
            <a:r>
              <a:rPr lang="en-US" sz="13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最终交付的系统功能完整闭环，业务逻辑清晰合理，界面交互设计符合用户直觉且体验友好，在满足业务实用性需求的同时，兼顾了底层架构的技术先进性。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07 总结与展望：未来展望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207000" cy="4572000"/>
          </a:xfrm>
          <a:prstGeom prst="roundRect">
            <a:avLst>
              <a:gd name="adj" fmla="val 333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rcRect t="1074" b="1074"/>
          <a:stretch>
            <a:fillRect/>
          </a:stretch>
        </p:blipFill>
        <p:spPr>
          <a:xfrm>
            <a:off x="1016000" y="1905000"/>
            <a:ext cx="1016000" cy="1016000"/>
          </a:xfrm>
          <a:prstGeom prst="roundRect">
            <a:avLst>
              <a:gd name="adj" fmla="val 10000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AutoShape 6"/>
          <p:cNvSpPr/>
          <p:nvPr/>
        </p:nvSpPr>
        <p:spPr>
          <a:xfrm>
            <a:off x="2159000" y="1968500"/>
            <a:ext cx="3556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功能扩展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丰富业务场景，打造闭环生态</a:t>
            </a:r>
          </a:p>
        </p:txBody>
      </p:sp>
      <p:sp>
        <p:nvSpPr>
          <p:cNvPr id="7" name="AutoShape 7"/>
          <p:cNvSpPr/>
          <p:nvPr/>
        </p:nvSpPr>
        <p:spPr>
          <a:xfrm>
            <a:off x="1016000" y="3175000"/>
            <a:ext cx="4699000" cy="889000"/>
          </a:xfrm>
          <a:prstGeom prst="roundRect">
            <a:avLst>
              <a:gd name="adj" fmla="val 11428"/>
            </a:avLst>
          </a:prstGeom>
          <a:solidFill>
            <a:srgbClr val="F0FDF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06500" y="3365500"/>
            <a:ext cx="508000" cy="5080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905000" y="3302000"/>
            <a:ext cx="3683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个性化推荐引擎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基于协同过滤算法分析用户行为，精准推送商品，提升转化率。</a:t>
            </a:r>
          </a:p>
        </p:txBody>
      </p:sp>
      <p:sp>
        <p:nvSpPr>
          <p:cNvPr id="10" name="AutoShape 10"/>
          <p:cNvSpPr/>
          <p:nvPr/>
        </p:nvSpPr>
        <p:spPr>
          <a:xfrm>
            <a:off x="1016000" y="4191000"/>
            <a:ext cx="4699000" cy="889000"/>
          </a:xfrm>
          <a:prstGeom prst="roundRect">
            <a:avLst>
              <a:gd name="adj" fmla="val 11428"/>
            </a:avLst>
          </a:prstGeom>
          <a:solidFill>
            <a:srgbClr val="F0FDF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06500" y="4381500"/>
            <a:ext cx="508000" cy="5080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905000" y="4318000"/>
            <a:ext cx="3683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信用与安全体系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建立多维度卖家信用评价与交易风控机制，保障平台交易安全。</a:t>
            </a:r>
          </a:p>
        </p:txBody>
      </p:sp>
      <p:sp>
        <p:nvSpPr>
          <p:cNvPr id="13" name="AutoShape 13"/>
          <p:cNvSpPr/>
          <p:nvPr/>
        </p:nvSpPr>
        <p:spPr>
          <a:xfrm>
            <a:off x="1016000" y="5207000"/>
            <a:ext cx="4699000" cy="889000"/>
          </a:xfrm>
          <a:prstGeom prst="roundRect">
            <a:avLst>
              <a:gd name="adj" fmla="val 11428"/>
            </a:avLst>
          </a:prstGeom>
          <a:solidFill>
            <a:srgbClr val="F0FDF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206500" y="5397500"/>
            <a:ext cx="508000" cy="5080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1905000" y="5334000"/>
            <a:ext cx="3683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支付全流程集成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接入微信、支付宝等主流支付接口，实现从下单到结算的完整闭环。</a:t>
            </a:r>
          </a:p>
        </p:txBody>
      </p:sp>
      <p:sp>
        <p:nvSpPr>
          <p:cNvPr id="16" name="AutoShape 16"/>
          <p:cNvSpPr/>
          <p:nvPr/>
        </p:nvSpPr>
        <p:spPr>
          <a:xfrm>
            <a:off x="6223000" y="1651000"/>
            <a:ext cx="5207000" cy="4572000"/>
          </a:xfrm>
          <a:prstGeom prst="roundRect">
            <a:avLst>
              <a:gd name="adj" fmla="val 333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77000" y="1905000"/>
            <a:ext cx="1016000" cy="10160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7620000" y="1968500"/>
            <a:ext cx="3556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技术优化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升级底层架构，增强系统性能与智能性</a:t>
            </a:r>
          </a:p>
        </p:txBody>
      </p:sp>
      <p:sp>
        <p:nvSpPr>
          <p:cNvPr id="19" name="AutoShape 19"/>
          <p:cNvSpPr/>
          <p:nvPr/>
        </p:nvSpPr>
        <p:spPr>
          <a:xfrm>
            <a:off x="6477000" y="3175000"/>
            <a:ext cx="4699000" cy="889000"/>
          </a:xfrm>
          <a:prstGeom prst="roundRect">
            <a:avLst>
              <a:gd name="adj" fmla="val 11428"/>
            </a:avLst>
          </a:prstGeom>
          <a:solidFill>
            <a:srgbClr val="EFF6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667500" y="3365500"/>
            <a:ext cx="508000" cy="5080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7366000" y="3302000"/>
            <a:ext cx="3683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高性能搜索架构 (Elasticsearch)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重构搜索系统，大幅提升海量商品检索的响应速度与准确率。</a:t>
            </a:r>
          </a:p>
        </p:txBody>
      </p:sp>
      <p:sp>
        <p:nvSpPr>
          <p:cNvPr id="22" name="AutoShape 22"/>
          <p:cNvSpPr/>
          <p:nvPr/>
        </p:nvSpPr>
        <p:spPr>
          <a:xfrm>
            <a:off x="6477000" y="4191000"/>
            <a:ext cx="4699000" cy="889000"/>
          </a:xfrm>
          <a:prstGeom prst="roundRect">
            <a:avLst>
              <a:gd name="adj" fmla="val 11428"/>
            </a:avLst>
          </a:prstGeom>
          <a:solidFill>
            <a:srgbClr val="EFF6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>
          <a:xfrm>
            <a:off x="6667500" y="4318000"/>
            <a:ext cx="635000" cy="635000"/>
          </a:xfrm>
          <a:prstGeom prst="roundRect">
            <a:avLst>
              <a:gd name="adj" fmla="val 8000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24" name="AutoShape 24"/>
          <p:cNvSpPr/>
          <p:nvPr/>
        </p:nvSpPr>
        <p:spPr>
          <a:xfrm>
            <a:off x="7493000" y="4318000"/>
            <a:ext cx="355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云原生容器化部署 (Docker+K8s)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实现系统的弹性伸缩与标准化部署，显著降低运维成本与风险。</a:t>
            </a:r>
          </a:p>
        </p:txBody>
      </p:sp>
      <p:sp>
        <p:nvSpPr>
          <p:cNvPr id="25" name="AutoShape 25"/>
          <p:cNvSpPr/>
          <p:nvPr/>
        </p:nvSpPr>
        <p:spPr>
          <a:xfrm>
            <a:off x="6477000" y="5207000"/>
            <a:ext cx="4699000" cy="889000"/>
          </a:xfrm>
          <a:prstGeom prst="roundRect">
            <a:avLst>
              <a:gd name="adj" fmla="val 11428"/>
            </a:avLst>
          </a:prstGeom>
          <a:solidFill>
            <a:srgbClr val="EFF6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667500" y="5397500"/>
            <a:ext cx="508000" cy="508000"/>
          </a:xfrm>
          <a:prstGeom prst="rect">
            <a:avLst/>
          </a:prstGeom>
        </p:spPr>
      </p:pic>
      <p:sp>
        <p:nvSpPr>
          <p:cNvPr id="27" name="AutoShape 27"/>
          <p:cNvSpPr/>
          <p:nvPr/>
        </p:nvSpPr>
        <p:spPr>
          <a:xfrm>
            <a:off x="7366000" y="5334000"/>
            <a:ext cx="3683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AI 能力深度融合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引入向量数据库（如Milvus）构建知识库，实现智能化的智能客服问答。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系统部分功能截图展示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207000" cy="2286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016000" y="2032000"/>
            <a:ext cx="1016000" cy="1524000"/>
          </a:xfrm>
          <a:prstGeom prst="roundRect">
            <a:avLst>
              <a:gd name="adj" fmla="val 12500"/>
            </a:avLst>
          </a:prstGeom>
          <a:solidFill>
            <a:srgbClr val="22C55E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70000" y="2413000"/>
            <a:ext cx="508000" cy="5080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2286000" y="2032000"/>
            <a:ext cx="3429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首页</a:t>
            </a:r>
            <a:r>
              <a:rPr lang="en-US" sz="2000" b="1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 · </a:t>
            </a:r>
            <a:r>
              <a:rPr lang="en-US" sz="2000" b="1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商品列表</a:t>
            </a:r>
            <a:endParaRPr lang="en-US" sz="1100" dirty="0"/>
          </a:p>
          <a:p>
            <a:pPr indent="0" algn="l">
              <a:lnSpc>
                <a:spcPct val="116666"/>
              </a:lnSpc>
              <a:spcBef>
                <a:spcPts val="1200"/>
              </a:spcBef>
            </a:pPr>
            <a:r>
              <a:rPr lang="en-US" sz="1300" b="0" i="0" u="none" strike="noStrike" dirty="0" err="1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清晰直观的商品卡片式布局，整合分类导航与智能搜索功能，帮助用户快速检索目标商品，提升浏览效率</a:t>
            </a:r>
            <a:r>
              <a:rPr lang="en-US" sz="1300" b="0" i="0" u="none" strike="noStrike" dirty="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</p:txBody>
      </p:sp>
      <p:sp>
        <p:nvSpPr>
          <p:cNvPr id="8" name="AutoShape 8"/>
          <p:cNvSpPr/>
          <p:nvPr/>
        </p:nvSpPr>
        <p:spPr>
          <a:xfrm>
            <a:off x="6223000" y="1651000"/>
            <a:ext cx="5207000" cy="2286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6477000" y="2032000"/>
            <a:ext cx="1016000" cy="1524000"/>
          </a:xfrm>
          <a:prstGeom prst="roundRect">
            <a:avLst>
              <a:gd name="adj" fmla="val 12500"/>
            </a:avLst>
          </a:prstGeom>
          <a:solidFill>
            <a:srgbClr val="22C55E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731000" y="2413000"/>
            <a:ext cx="508000" cy="5080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7747000" y="2032000"/>
            <a:ext cx="3429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详情 · 信息展示</a:t>
            </a:r>
            <a:endParaRPr lang="en-US" sz="1100"/>
          </a:p>
          <a:p>
            <a:pPr indent="0" algn="l">
              <a:lnSpc>
                <a:spcPct val="116666"/>
              </a:lnSpc>
              <a:spcBef>
                <a:spcPts val="1200"/>
              </a:spcBef>
            </a:pP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聚合高清商品图、详细参数描述及卖家信息。集成即时聊天与交易入口，缩短用户决策链路，提升转化率。</a:t>
            </a:r>
          </a:p>
        </p:txBody>
      </p:sp>
      <p:sp>
        <p:nvSpPr>
          <p:cNvPr id="12" name="AutoShape 12"/>
          <p:cNvSpPr/>
          <p:nvPr/>
        </p:nvSpPr>
        <p:spPr>
          <a:xfrm>
            <a:off x="762000" y="4191000"/>
            <a:ext cx="5207000" cy="2286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1016000" y="4572000"/>
            <a:ext cx="1016000" cy="1524000"/>
          </a:xfrm>
          <a:prstGeom prst="roundRect">
            <a:avLst>
              <a:gd name="adj" fmla="val 12500"/>
            </a:avLst>
          </a:prstGeom>
          <a:solidFill>
            <a:srgbClr val="22C55E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70000" y="4953000"/>
            <a:ext cx="508000" cy="5080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2286000" y="4572000"/>
            <a:ext cx="3429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发布</a:t>
            </a:r>
            <a:r>
              <a:rPr lang="en-US" sz="2000" b="1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 · </a:t>
            </a:r>
            <a:r>
              <a:rPr lang="en-US" sz="2000" b="1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表单提交</a:t>
            </a:r>
            <a:endParaRPr lang="en-US" sz="1100" dirty="0"/>
          </a:p>
          <a:p>
            <a:pPr indent="0" algn="l">
              <a:lnSpc>
                <a:spcPct val="116666"/>
              </a:lnSpc>
              <a:spcBef>
                <a:spcPts val="1200"/>
              </a:spcBef>
            </a:pPr>
            <a:r>
              <a:rPr lang="en-US" sz="1300" b="0" i="0" u="none" strike="noStrike" dirty="0" err="1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结构化的信息填写表单，支持多图上传与即时预览。通过清晰的引导文案与合理的校验规则，降低发布门槛，提升发布体验</a:t>
            </a:r>
            <a:r>
              <a:rPr lang="en-US" sz="1300" b="0" i="0" u="none" strike="noStrike" dirty="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</p:txBody>
      </p:sp>
      <p:sp>
        <p:nvSpPr>
          <p:cNvPr id="16" name="AutoShape 16"/>
          <p:cNvSpPr/>
          <p:nvPr/>
        </p:nvSpPr>
        <p:spPr>
          <a:xfrm>
            <a:off x="6223000" y="4191000"/>
            <a:ext cx="5207000" cy="2286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6477000" y="4572000"/>
            <a:ext cx="1016000" cy="1524000"/>
          </a:xfrm>
          <a:prstGeom prst="roundRect">
            <a:avLst>
              <a:gd name="adj" fmla="val 12500"/>
            </a:avLst>
          </a:prstGeom>
          <a:solidFill>
            <a:srgbClr val="22C55E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731000" y="4953000"/>
            <a:ext cx="508000" cy="5080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7747000" y="4572000"/>
            <a:ext cx="3429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后台 · 审核管理</a:t>
            </a:r>
            <a:endParaRPr lang="en-US" sz="1100"/>
          </a:p>
          <a:p>
            <a:pPr indent="0" algn="l">
              <a:lnSpc>
                <a:spcPct val="116666"/>
              </a:lnSpc>
              <a:spcBef>
                <a:spcPts val="1200"/>
              </a:spcBef>
            </a:pP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管理员端专用的数据管理面板，可实时查看待审核商品列表，支持一键通过或驳回操作，确保平台内容合规与质量。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0" y="1778000"/>
            <a:ext cx="1219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感谢聆听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0" y="3048000"/>
            <a:ext cx="12192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96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Q &amp; A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0" y="5080000"/>
            <a:ext cx="1219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0" i="0" u="none" strike="noStrike" spc="400">
                <a:solidFill>
                  <a:srgbClr val="E5E7EB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THANKS FOR LISTENING</a:t>
            </a:r>
            <a:endParaRPr lang="en-US" sz="1100"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1590</Words>
  <Application>Microsoft Office PowerPoint</Application>
  <PresentationFormat>宽屏</PresentationFormat>
  <Paragraphs>277</Paragraphs>
  <Slides>18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18</vt:i4>
      </vt:variant>
    </vt:vector>
  </HeadingPairs>
  <TitlesOfParts>
    <vt:vector size="22" baseType="lpstr">
      <vt:lpstr>Noto Sans SC</vt:lpstr>
      <vt:lpstr>Arial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shiyu fu</cp:lastModifiedBy>
  <cp:revision>1</cp:revision>
  <dcterms:modified xsi:type="dcterms:W3CDTF">2026-04-28T06:11:04Z</dcterms:modified>
</cp:coreProperties>
</file>